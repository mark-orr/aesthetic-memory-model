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371600"/>
            <a:ext cx="1463040" cy="614476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E1F47"/>
                </a:solidFill>
                <a:latin typeface="Calibri"/>
              </a:rPr>
              <a:t>song_id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0" y="2024176"/>
            <a:ext cx="1463040" cy="6144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Instance-Based Memory as a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Basis for Aesthetic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0916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E8A33D"/>
                </a:solidFill>
                <a:latin typeface="Calibri"/>
              </a:rPr>
              <a:t>Modeling aesthetic preference as declarative memory activation, using pyactup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Mark Orr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Three Ideas, One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Instance-Based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Past experiences (instances),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not rules, drive decisions.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(Gonzalez et al., 2003)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Rational Memory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(Anderson)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Memory activation tracks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statistical regularities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in the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Inverted-U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E1F47"/>
                </a:solidFill>
                <a:latin typeface="Cambria"/>
              </a:rPr>
              <a:t>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432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Moderate stimulus complexity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is preferred over very simple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or very complex stimuli.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2120" y="4251960"/>
            <a:ext cx="1097280" cy="365760"/>
          </a:xfrm>
          <a:prstGeom prst="rightArrow">
            <a:avLst/>
          </a:prstGeom>
          <a:solidFill>
            <a:srgbClr val="6B6674"/>
          </a:solidFill>
          <a:ln>
            <a:solidFill>
              <a:srgbClr val="6B6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892040"/>
            <a:ext cx="5760720" cy="868680"/>
          </a:xfrm>
          <a:prstGeom prst="roundRect">
            <a:avLst>
              <a:gd name="adj" fmla="val 15000"/>
            </a:avLst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Aesthetic judgment as a function of memory activation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The Core Mechanism: Algorithm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108960" cy="1645920"/>
          </a:xfrm>
          <a:prstGeom prst="roundRect">
            <a:avLst>
              <a:gd name="adj" fmla="val 10000"/>
            </a:avLst>
          </a:prstGeom>
          <a:solidFill>
            <a:srgbClr val="2E1F47"/>
          </a:solidFill>
          <a:ln>
            <a:solidFill>
              <a:srgbClr val="2E1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1. Predict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Calibri"/>
              </a:rPr>
              <a:t>Retrieve the memory chunk pyactup would predict next → predicted_activation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03320" y="3291840"/>
            <a:ext cx="502920" cy="365760"/>
          </a:xfrm>
          <a:prstGeom prst="rightArrow">
            <a:avLst/>
          </a:prstGeom>
          <a:solidFill>
            <a:srgbClr val="6B6674"/>
          </a:solidFill>
          <a:ln>
            <a:solidFill>
              <a:srgbClr val="6B6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2651760"/>
            <a:ext cx="3108960" cy="1645920"/>
          </a:xfrm>
          <a:prstGeom prst="roundRect">
            <a:avLst>
              <a:gd name="adj" fmla="val 10000"/>
            </a:avLst>
          </a:prstGeom>
          <a:solidFill>
            <a:srgbClr val="6B6674"/>
          </a:solidFill>
          <a:ln>
            <a:solidFill>
              <a:srgbClr val="6B6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2. Observe</a:t>
            </a:r>
          </a:p>
          <a:p>
            <a:pPr algn="ctr"/>
            <a:r>
              <a:rPr sz="1350" b="0">
                <a:solidFill>
                  <a:srgbClr val="FFFFFF"/>
                </a:solidFill>
                <a:latin typeface="Calibri"/>
              </a:rPr>
              <a:t>Look up the actual song's own chunk → actual_activation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291840"/>
            <a:ext cx="502920" cy="365760"/>
          </a:xfrm>
          <a:prstGeom prst="rightArrow">
            <a:avLst/>
          </a:prstGeom>
          <a:solidFill>
            <a:srgbClr val="6B6674"/>
          </a:solidFill>
          <a:ln>
            <a:solidFill>
              <a:srgbClr val="6B6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108960" cy="16459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2E1F47"/>
                </a:solidFill>
                <a:latin typeface="Calibri"/>
              </a:rPr>
              <a:t>3. Compare</a:t>
            </a:r>
          </a:p>
          <a:p>
            <a:pPr algn="ctr"/>
            <a:r>
              <a:rPr sz="1400" b="0">
                <a:solidFill>
                  <a:srgbClr val="2E1F47"/>
                </a:solidFill>
                <a:latin typeface="Calibri"/>
              </a:rPr>
              <a:t>aesthetic_basis =</a:t>
            </a:r>
          </a:p>
          <a:p>
            <a:pPr algn="ctr"/>
            <a:r>
              <a:rPr sz="1400" b="0">
                <a:solidFill>
                  <a:srgbClr val="2E1F47"/>
                </a:solidFill>
                <a:latin typeface="Calibri"/>
              </a:rPr>
              <a:t>| predicted − actual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6674"/>
                </a:solidFill>
                <a:latin typeface="Calibri"/>
              </a:rPr>
              <a:t>Each song is a pyactup chunk {song_id, complexity}. Activation reflects how strongly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6674"/>
                </a:solidFill>
                <a:latin typeface="Calibri"/>
              </a:rPr>
              <a:t>memory "expects" that chunk right now — the gap between prediction and reality is the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6674"/>
                </a:solidFill>
                <a:latin typeface="Calibri"/>
              </a:rPr>
              <a:t>aesthetic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Random, Ergodic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100 songs, each with a fixed complexity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10,000 exposures drawn uniformly at random (i.i.d.)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aesthetic_basis measured as a time series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Summarized with a 20-exposure rolling average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103120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794101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840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Each exposure is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encoded as a chunk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like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1 — The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4415" cy="2157984"/>
          </a:xfrm>
          <a:prstGeom prst="roundRect">
            <a:avLst>
              <a:gd name="adj" fmla="val 5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2895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song(t)  ~  Uniform{ song_1 ... song_100 }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aesthetic_basis(t) = | A_pred(t) − A_actual(t) |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rolling_mean(t) = mean( aesthetic_basis[t-19 : t]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0682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Activation is read via pyactup's activation_history — there is no</a:t>
            </a:r>
          </a:p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direct "get activation" lookup in the library.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1 —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pic>
        <p:nvPicPr>
          <p:cNvPr id="6" name="Picture 5" descr="design1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90" y="1691640"/>
            <a:ext cx="920931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674"/>
                </a:solidFill>
                <a:latin typeface="Calibri"/>
              </a:rPr>
              <a:t>aesthetic_basis settles into a steady fluctuation (~1.3–1.4) after an initial transient.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Design 1 — What does this tell us?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Once memory saturates, the “surprise” signal stabilizes — consistent with an ergodic environment reaching a steady state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This is the baseline case: no structure in the environment to track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Sets up the comparison for Design 2's structured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A Cyclic “Spotlight”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Same 100 songs, now placed at equally-spaced points on a circle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A von Mises distribution's center sweeps around the circle over time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Models a systematically drifting popularity trend — a moving spotlight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Same aesthetic_basis measurement as Design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103120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794101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840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Each exposure is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encoded as a chunk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like this.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2 — The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4415" cy="2157984"/>
          </a:xfrm>
          <a:prstGeom prst="roundRect">
            <a:avLst>
              <a:gd name="adj" fmla="val 5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2895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μ(t) = 2π · num_cycles · t / num_exposures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weight(song_i) ∝ exp( κ · cos(angle_i − μ(t)) 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song(t)  ~  Categorical(weight)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0682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κ (kappa) controls how tightly the spotlight focuses: low κ → nearly</a:t>
            </a:r>
          </a:p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uniform, high κ → a narrow beam.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2 —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pic>
        <p:nvPicPr>
          <p:cNvPr id="6" name="Picture 5" descr="design2_controller_snapshot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094415" cy="1972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925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674"/>
                </a:solidFill>
                <a:latin typeface="Calibri"/>
              </a:rPr>
              <a:t>Six snapshots across one cycle: the sampling distribution (blue) sweeps around all 100 songs, centered on the red line.</a:t>
            </a:r>
          </a:p>
        </p:txBody>
      </p:sp>
      <p:pic>
        <p:nvPicPr>
          <p:cNvPr id="8" name="Picture 7" descr="design2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579" y="4395500"/>
            <a:ext cx="314221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Design 2 — What does this tell us?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aesthetic_basis shows a similar transient-then-steady-state pattern to Design 1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No obvious visual periodicity tied to the sweep cycle yet — an open question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Suggests the memory-activation signal may be robust to this kind of structured drift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A Richer “Evaluation”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Same cyclic environment as Design 2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Each memory chunk now stores an evaluation, not a fixed complexity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Introduces Algorithm A2: evaluation depends on predictability AND recent change</a:t>
            </a:r>
          </a:p>
          <a:p>
            <a:pPr algn="l" indent="-228600" marL="228600">
              <a:lnSpc>
                <a:spcPct val="115000"/>
              </a:lnSpc>
              <a:spcAft>
                <a:spcPts val="16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2B2B2B"/>
                </a:solidFill>
                <a:latin typeface="Calibri"/>
              </a:rPr>
              <a:t>Every new evaluation creates a new chunk — each experience is its own instance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103120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794101"/>
            <a:ext cx="1554480" cy="652881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840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Each exposure is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encoded as a chunk</a:t>
            </a:r>
          </a:p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674"/>
                </a:solidFill>
                <a:latin typeface="Calibri"/>
              </a:rPr>
              <a:t>like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3 — Algorithm A2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309360" cy="2724912"/>
          </a:xfrm>
          <a:prstGeom prst="roundRect">
            <a:avLst>
              <a:gd name="adj" fmla="val 5000"/>
            </a:avLst>
          </a:prstGeom>
          <a:solidFill>
            <a:srgbClr val="F3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57784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x = predicted_activation        f(x) = 1 / e^x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y = actual_activation(t) − actual_activation(t−2)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g(y) = mirrored sigmoid = 1 / (1 + e^y)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E1F47"/>
                </a:solidFill>
                <a:latin typeface="Courier New"/>
              </a:rPr>
              <a:t>evaluation = g(y) · f(x)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73752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y compares a song's own last two activation readings — not</a:t>
            </a:r>
          </a:p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6B6674"/>
                </a:solidFill>
                <a:latin typeface="Calibri"/>
              </a:rPr>
              <a:t>predicted vs. actual, but “how has my memory of this song changed?”</a:t>
            </a:r>
          </a:p>
        </p:txBody>
      </p:sp>
      <p:pic>
        <p:nvPicPr>
          <p:cNvPr id="9" name="Picture 8" descr="design3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28800"/>
            <a:ext cx="4419295" cy="20623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1F47"/>
                </a:solidFill>
                <a:latin typeface="Cambria"/>
              </a:rPr>
              <a:t>Design 3 —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pic>
        <p:nvPicPr>
          <p:cNvPr id="6" name="Picture 5" descr="design3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90" y="1691640"/>
            <a:ext cx="920931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674"/>
                </a:solidFill>
                <a:latin typeface="Calibri"/>
              </a:rPr>
              <a:t>evaluation settles to a steady fluctuation around ~0.4, a similar qualitative shape to Designs 1–2.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DESIGN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Design 3 — What does this tell us?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74375" y="457200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2E1F47"/>
          </a:solidFill>
          <a:ln>
            <a:solidFill>
              <a:srgbClr val="2E1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song_id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860145"/>
            <a:ext cx="868680" cy="364845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evaluation multiplicatively combines “how surprising is the predicted alternative” (f) with “how much has this song's pull on memory changed” (g)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Because every evaluation is its own chunk, memory becomes a growing library of felt experiences, not just facts</a:t>
            </a:r>
          </a:p>
          <a:p>
            <a:pPr algn="l" indent="-228600" marL="228600">
              <a:lnSpc>
                <a:spcPct val="115000"/>
              </a:lnSpc>
              <a:spcAft>
                <a:spcPts val="2000"/>
              </a:spcAft>
              <a:buClr>
                <a:srgbClr val="E8A33D"/>
              </a:buClr>
              <a:buFont typeface="Arial"/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Real cost: chunk count grows with exposures, so retrieval scales roughly quadratically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0" y="640080"/>
            <a:ext cx="914400" cy="384048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E1F47"/>
                </a:solidFill>
                <a:latin typeface="Calibri"/>
              </a:rPr>
              <a:t>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0" y="1062228"/>
            <a:ext cx="91440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lnSpc>
                <a:spcPct val="115000"/>
              </a:lnSpc>
              <a:spcAft>
                <a:spcPts val="18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FFFFFF"/>
                </a:solidFill>
                <a:latin typeface="Calibri"/>
              </a:rPr>
              <a:t>Algorithm B: a similarity-based alternative to activation-difference (not yet defined)</a:t>
            </a:r>
          </a:p>
          <a:p>
            <a:pPr algn="l" indent="-228600" marL="228600">
              <a:lnSpc>
                <a:spcPct val="115000"/>
              </a:lnSpc>
              <a:spcAft>
                <a:spcPts val="18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FFFFFF"/>
                </a:solidFill>
                <a:latin typeface="Calibri"/>
              </a:rPr>
              <a:t>Connecting aesthetic_basis / evaluation directly to the inverted-U complexity hypothesis</a:t>
            </a:r>
          </a:p>
          <a:p>
            <a:pPr algn="l" indent="-228600" marL="228600">
              <a:lnSpc>
                <a:spcPct val="115000"/>
              </a:lnSpc>
              <a:spcAft>
                <a:spcPts val="1800"/>
              </a:spcAft>
              <a:buClr>
                <a:srgbClr val="E8A33D"/>
              </a:buClr>
              <a:buFont typeface="Arial"/>
              <a:buChar char="•"/>
            </a:pPr>
            <a:r>
              <a:rPr sz="1600">
                <a:solidFill>
                  <a:srgbClr val="FFFFFF"/>
                </a:solidFill>
                <a:latin typeface="Calibri"/>
              </a:rPr>
              <a:t>Future directions (not yet implemented): evolutionary-game-theoretic competition between songs; an agent that chooses not to encode a song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E8A33D"/>
                </a:solidFill>
                <a:latin typeface="Cambria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