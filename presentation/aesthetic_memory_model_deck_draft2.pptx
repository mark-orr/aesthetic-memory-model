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latin typeface="Cambria"/>
              </a:rPr>
              <a:t>Design 5: evaluation and running surprise over 600 exposures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evaluation (rolling mean)</c:v>
                </c:pt>
              </c:strCache>
            </c:strRef>
          </c:tx>
          <c:spPr>
            <a:ln w="28575">
              <a:solidFill>
                <a:srgbClr val="3D6E9E"/>
              </a:solidFill>
            </a:ln>
          </c:spPr>
          <c:marker>
            <c:symbol val="none"/>
          </c:marker>
          <c:cat>
            <c:numRef>
              <c:f>Sheet1!$A$2:$A$96</c:f>
              <c:numCache>
                <c:formatCode>General</c:formatCode>
                <c:ptCount val="95"/>
                <c:pt idx="0">
                  <c:v>6</c:v>
                </c:pt>
                <c:pt idx="1">
                  <c:v>21</c:v>
                </c:pt>
                <c:pt idx="2">
                  <c:v>30</c:v>
                </c:pt>
                <c:pt idx="3">
                  <c:v>40</c:v>
                </c:pt>
                <c:pt idx="4">
                  <c:v>48</c:v>
                </c:pt>
                <c:pt idx="5">
                  <c:v>56</c:v>
                </c:pt>
                <c:pt idx="6">
                  <c:v>62</c:v>
                </c:pt>
                <c:pt idx="7">
                  <c:v>71</c:v>
                </c:pt>
                <c:pt idx="8">
                  <c:v>77</c:v>
                </c:pt>
                <c:pt idx="9">
                  <c:v>83</c:v>
                </c:pt>
                <c:pt idx="10">
                  <c:v>89</c:v>
                </c:pt>
                <c:pt idx="11">
                  <c:v>95</c:v>
                </c:pt>
                <c:pt idx="12">
                  <c:v>101</c:v>
                </c:pt>
                <c:pt idx="13">
                  <c:v>107</c:v>
                </c:pt>
                <c:pt idx="14">
                  <c:v>113</c:v>
                </c:pt>
                <c:pt idx="15">
                  <c:v>119</c:v>
                </c:pt>
                <c:pt idx="16">
                  <c:v>125</c:v>
                </c:pt>
                <c:pt idx="17">
                  <c:v>131</c:v>
                </c:pt>
                <c:pt idx="18">
                  <c:v>137</c:v>
                </c:pt>
                <c:pt idx="19">
                  <c:v>143</c:v>
                </c:pt>
                <c:pt idx="20">
                  <c:v>150</c:v>
                </c:pt>
                <c:pt idx="21">
                  <c:v>156</c:v>
                </c:pt>
                <c:pt idx="22">
                  <c:v>162</c:v>
                </c:pt>
                <c:pt idx="23">
                  <c:v>168</c:v>
                </c:pt>
                <c:pt idx="24">
                  <c:v>174</c:v>
                </c:pt>
                <c:pt idx="25">
                  <c:v>180</c:v>
                </c:pt>
                <c:pt idx="26">
                  <c:v>186</c:v>
                </c:pt>
                <c:pt idx="27">
                  <c:v>192</c:v>
                </c:pt>
                <c:pt idx="28">
                  <c:v>198</c:v>
                </c:pt>
                <c:pt idx="29">
                  <c:v>204</c:v>
                </c:pt>
                <c:pt idx="30">
                  <c:v>210</c:v>
                </c:pt>
                <c:pt idx="31">
                  <c:v>216</c:v>
                </c:pt>
                <c:pt idx="32">
                  <c:v>222</c:v>
                </c:pt>
                <c:pt idx="33">
                  <c:v>228</c:v>
                </c:pt>
                <c:pt idx="34">
                  <c:v>234</c:v>
                </c:pt>
                <c:pt idx="35">
                  <c:v>240</c:v>
                </c:pt>
                <c:pt idx="36">
                  <c:v>246</c:v>
                </c:pt>
                <c:pt idx="37">
                  <c:v>252</c:v>
                </c:pt>
                <c:pt idx="38">
                  <c:v>258</c:v>
                </c:pt>
                <c:pt idx="39">
                  <c:v>264</c:v>
                </c:pt>
                <c:pt idx="40">
                  <c:v>270</c:v>
                </c:pt>
                <c:pt idx="41">
                  <c:v>276</c:v>
                </c:pt>
                <c:pt idx="42">
                  <c:v>282</c:v>
                </c:pt>
                <c:pt idx="43">
                  <c:v>288</c:v>
                </c:pt>
                <c:pt idx="44">
                  <c:v>294</c:v>
                </c:pt>
                <c:pt idx="45">
                  <c:v>300</c:v>
                </c:pt>
                <c:pt idx="46">
                  <c:v>306</c:v>
                </c:pt>
                <c:pt idx="47">
                  <c:v>312</c:v>
                </c:pt>
                <c:pt idx="48">
                  <c:v>318</c:v>
                </c:pt>
                <c:pt idx="49">
                  <c:v>324</c:v>
                </c:pt>
                <c:pt idx="50">
                  <c:v>330</c:v>
                </c:pt>
                <c:pt idx="51">
                  <c:v>336</c:v>
                </c:pt>
                <c:pt idx="52">
                  <c:v>342</c:v>
                </c:pt>
                <c:pt idx="53">
                  <c:v>348</c:v>
                </c:pt>
                <c:pt idx="54">
                  <c:v>354</c:v>
                </c:pt>
                <c:pt idx="55">
                  <c:v>360</c:v>
                </c:pt>
                <c:pt idx="56">
                  <c:v>366</c:v>
                </c:pt>
                <c:pt idx="57">
                  <c:v>372</c:v>
                </c:pt>
                <c:pt idx="58">
                  <c:v>378</c:v>
                </c:pt>
                <c:pt idx="59">
                  <c:v>384</c:v>
                </c:pt>
                <c:pt idx="60">
                  <c:v>390</c:v>
                </c:pt>
                <c:pt idx="61">
                  <c:v>396</c:v>
                </c:pt>
                <c:pt idx="62">
                  <c:v>402</c:v>
                </c:pt>
                <c:pt idx="63">
                  <c:v>408</c:v>
                </c:pt>
                <c:pt idx="64">
                  <c:v>414</c:v>
                </c:pt>
                <c:pt idx="65">
                  <c:v>420</c:v>
                </c:pt>
                <c:pt idx="66">
                  <c:v>426</c:v>
                </c:pt>
                <c:pt idx="67">
                  <c:v>432</c:v>
                </c:pt>
                <c:pt idx="68">
                  <c:v>438</c:v>
                </c:pt>
                <c:pt idx="69">
                  <c:v>444</c:v>
                </c:pt>
                <c:pt idx="70">
                  <c:v>450</c:v>
                </c:pt>
                <c:pt idx="71">
                  <c:v>456</c:v>
                </c:pt>
                <c:pt idx="72">
                  <c:v>462</c:v>
                </c:pt>
                <c:pt idx="73">
                  <c:v>468</c:v>
                </c:pt>
                <c:pt idx="74">
                  <c:v>474</c:v>
                </c:pt>
                <c:pt idx="75">
                  <c:v>480</c:v>
                </c:pt>
                <c:pt idx="76">
                  <c:v>486</c:v>
                </c:pt>
                <c:pt idx="77">
                  <c:v>492</c:v>
                </c:pt>
                <c:pt idx="78">
                  <c:v>498</c:v>
                </c:pt>
                <c:pt idx="79">
                  <c:v>504</c:v>
                </c:pt>
                <c:pt idx="80">
                  <c:v>510</c:v>
                </c:pt>
                <c:pt idx="81">
                  <c:v>516</c:v>
                </c:pt>
                <c:pt idx="82">
                  <c:v>522</c:v>
                </c:pt>
                <c:pt idx="83">
                  <c:v>528</c:v>
                </c:pt>
                <c:pt idx="84">
                  <c:v>534</c:v>
                </c:pt>
                <c:pt idx="85">
                  <c:v>540</c:v>
                </c:pt>
                <c:pt idx="86">
                  <c:v>546</c:v>
                </c:pt>
                <c:pt idx="87">
                  <c:v>552</c:v>
                </c:pt>
                <c:pt idx="88">
                  <c:v>558</c:v>
                </c:pt>
                <c:pt idx="89">
                  <c:v>564</c:v>
                </c:pt>
                <c:pt idx="90">
                  <c:v>570</c:v>
                </c:pt>
                <c:pt idx="91">
                  <c:v>576</c:v>
                </c:pt>
                <c:pt idx="92">
                  <c:v>582</c:v>
                </c:pt>
                <c:pt idx="93">
                  <c:v>588</c:v>
                </c:pt>
                <c:pt idx="94">
                  <c:v>594</c:v>
                </c:pt>
              </c:numCache>
            </c:numRef>
          </c:cat>
          <c:val>
            <c:numRef>
              <c:f>Sheet1!$B$2:$B$96</c:f>
              <c:numCache>
                <c:formatCode>General</c:formatCode>
                <c:ptCount val="9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0.63</c:v>
                </c:pt>
                <c:pt idx="5">
                  <c:v>0.71499999999999997</c:v>
                </c:pt>
                <c:pt idx="6">
                  <c:v>0.83499999999999996</c:v>
                </c:pt>
                <c:pt idx="7">
                  <c:v>0.86799999999999999</c:v>
                </c:pt>
                <c:pt idx="8">
                  <c:v>0.85199999999999998</c:v>
                </c:pt>
                <c:pt idx="9">
                  <c:v>0.88700000000000001</c:v>
                </c:pt>
                <c:pt idx="10">
                  <c:v>0.73599999999999999</c:v>
                </c:pt>
                <c:pt idx="11">
                  <c:v>0.755</c:v>
                </c:pt>
                <c:pt idx="12">
                  <c:v>0.72799999999999998</c:v>
                </c:pt>
                <c:pt idx="13">
                  <c:v>0.73699999999999999</c:v>
                </c:pt>
                <c:pt idx="14">
                  <c:v>0.749</c:v>
                </c:pt>
                <c:pt idx="15">
                  <c:v>0.76500000000000001</c:v>
                </c:pt>
                <c:pt idx="16">
                  <c:v>0.75900000000000001</c:v>
                </c:pt>
                <c:pt idx="17">
                  <c:v>0.73799999999999999</c:v>
                </c:pt>
                <c:pt idx="18">
                  <c:v>0.752</c:v>
                </c:pt>
                <c:pt idx="19">
                  <c:v>0.748</c:v>
                </c:pt>
                <c:pt idx="20">
                  <c:v>0.745</c:v>
                </c:pt>
                <c:pt idx="21">
                  <c:v>0.69199999999999995</c:v>
                </c:pt>
                <c:pt idx="22">
                  <c:v>0.59399999999999997</c:v>
                </c:pt>
                <c:pt idx="23">
                  <c:v>0.57799999999999996</c:v>
                </c:pt>
                <c:pt idx="24">
                  <c:v>0.68</c:v>
                </c:pt>
                <c:pt idx="25">
                  <c:v>0.82299999999999995</c:v>
                </c:pt>
                <c:pt idx="26">
                  <c:v>0.80700000000000005</c:v>
                </c:pt>
                <c:pt idx="27">
                  <c:v>0.86699999999999999</c:v>
                </c:pt>
                <c:pt idx="28">
                  <c:v>0.81699999999999995</c:v>
                </c:pt>
                <c:pt idx="29">
                  <c:v>0.83</c:v>
                </c:pt>
                <c:pt idx="30">
                  <c:v>0.85299999999999998</c:v>
                </c:pt>
                <c:pt idx="31">
                  <c:v>0.86299999999999999</c:v>
                </c:pt>
                <c:pt idx="32">
                  <c:v>0.88700000000000001</c:v>
                </c:pt>
                <c:pt idx="33">
                  <c:v>0.84799999999999998</c:v>
                </c:pt>
                <c:pt idx="34">
                  <c:v>0.83899999999999997</c:v>
                </c:pt>
                <c:pt idx="35">
                  <c:v>0.81200000000000006</c:v>
                </c:pt>
                <c:pt idx="36">
                  <c:v>0.85</c:v>
                </c:pt>
                <c:pt idx="37">
                  <c:v>0.79600000000000004</c:v>
                </c:pt>
                <c:pt idx="38">
                  <c:v>0.79900000000000004</c:v>
                </c:pt>
                <c:pt idx="39">
                  <c:v>0.754</c:v>
                </c:pt>
                <c:pt idx="40">
                  <c:v>0.74399999999999999</c:v>
                </c:pt>
                <c:pt idx="41">
                  <c:v>0.77100000000000002</c:v>
                </c:pt>
                <c:pt idx="42">
                  <c:v>0.82399999999999995</c:v>
                </c:pt>
                <c:pt idx="43">
                  <c:v>0.81499999999999995</c:v>
                </c:pt>
                <c:pt idx="44">
                  <c:v>0.81499999999999995</c:v>
                </c:pt>
                <c:pt idx="45">
                  <c:v>0.79</c:v>
                </c:pt>
                <c:pt idx="46">
                  <c:v>0.751</c:v>
                </c:pt>
                <c:pt idx="47">
                  <c:v>0.76600000000000001</c:v>
                </c:pt>
                <c:pt idx="48">
                  <c:v>0.74199999999999999</c:v>
                </c:pt>
                <c:pt idx="49">
                  <c:v>0.79500000000000004</c:v>
                </c:pt>
                <c:pt idx="50">
                  <c:v>0.80500000000000005</c:v>
                </c:pt>
                <c:pt idx="51">
                  <c:v>0.83</c:v>
                </c:pt>
                <c:pt idx="52">
                  <c:v>0.71099999999999997</c:v>
                </c:pt>
                <c:pt idx="53">
                  <c:v>0.71199999999999997</c:v>
                </c:pt>
                <c:pt idx="54">
                  <c:v>0.72799999999999998</c:v>
                </c:pt>
                <c:pt idx="55">
                  <c:v>0.73</c:v>
                </c:pt>
                <c:pt idx="56">
                  <c:v>0.752</c:v>
                </c:pt>
                <c:pt idx="57">
                  <c:v>0.77</c:v>
                </c:pt>
                <c:pt idx="58">
                  <c:v>0.82299999999999995</c:v>
                </c:pt>
                <c:pt idx="59">
                  <c:v>0.86499999999999999</c:v>
                </c:pt>
                <c:pt idx="60">
                  <c:v>0.86199999999999999</c:v>
                </c:pt>
                <c:pt idx="61">
                  <c:v>0.86099999999999999</c:v>
                </c:pt>
                <c:pt idx="62">
                  <c:v>0.85399999999999998</c:v>
                </c:pt>
                <c:pt idx="63">
                  <c:v>0.80400000000000005</c:v>
                </c:pt>
                <c:pt idx="64">
                  <c:v>0.82899999999999996</c:v>
                </c:pt>
                <c:pt idx="65">
                  <c:v>0.83799999999999997</c:v>
                </c:pt>
                <c:pt idx="66">
                  <c:v>0.71599999999999997</c:v>
                </c:pt>
                <c:pt idx="67">
                  <c:v>0.71</c:v>
                </c:pt>
                <c:pt idx="68">
                  <c:v>0.68500000000000005</c:v>
                </c:pt>
                <c:pt idx="69">
                  <c:v>0.76300000000000001</c:v>
                </c:pt>
                <c:pt idx="70">
                  <c:v>0.85599999999999998</c:v>
                </c:pt>
                <c:pt idx="71">
                  <c:v>0.85</c:v>
                </c:pt>
                <c:pt idx="72">
                  <c:v>0.73799999999999999</c:v>
                </c:pt>
                <c:pt idx="73">
                  <c:v>0.75800000000000001</c:v>
                </c:pt>
                <c:pt idx="74">
                  <c:v>0.746</c:v>
                </c:pt>
                <c:pt idx="75">
                  <c:v>0.81799999999999995</c:v>
                </c:pt>
                <c:pt idx="76">
                  <c:v>0.82599999999999996</c:v>
                </c:pt>
                <c:pt idx="77">
                  <c:v>0.73499999999999999</c:v>
                </c:pt>
                <c:pt idx="78">
                  <c:v>0.80800000000000005</c:v>
                </c:pt>
                <c:pt idx="79">
                  <c:v>0.81299999999999994</c:v>
                </c:pt>
                <c:pt idx="80">
                  <c:v>0.85599999999999998</c:v>
                </c:pt>
                <c:pt idx="81">
                  <c:v>0.91200000000000003</c:v>
                </c:pt>
                <c:pt idx="82">
                  <c:v>0.878</c:v>
                </c:pt>
                <c:pt idx="83">
                  <c:v>0.85599999999999998</c:v>
                </c:pt>
                <c:pt idx="84">
                  <c:v>0.77100000000000002</c:v>
                </c:pt>
                <c:pt idx="85">
                  <c:v>0.76700000000000002</c:v>
                </c:pt>
                <c:pt idx="86">
                  <c:v>0.77900000000000003</c:v>
                </c:pt>
                <c:pt idx="87">
                  <c:v>0.81100000000000005</c:v>
                </c:pt>
                <c:pt idx="88">
                  <c:v>0.85499999999999998</c:v>
                </c:pt>
                <c:pt idx="89">
                  <c:v>0.83699999999999997</c:v>
                </c:pt>
                <c:pt idx="90">
                  <c:v>0.81100000000000005</c:v>
                </c:pt>
                <c:pt idx="91">
                  <c:v>0.76100000000000001</c:v>
                </c:pt>
                <c:pt idx="92">
                  <c:v>0.71899999999999997</c:v>
                </c:pt>
                <c:pt idx="93">
                  <c:v>0.75700000000000001</c:v>
                </c:pt>
                <c:pt idx="94">
                  <c:v>0.78100000000000003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AC-A84B-9EF2-EAFCB02E0E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time-averaged aesthetic basis</c:v>
                </c:pt>
              </c:strCache>
            </c:strRef>
          </c:tx>
          <c:spPr>
            <a:ln w="28575">
              <a:solidFill>
                <a:srgbClr val="D9A61C"/>
              </a:solidFill>
            </a:ln>
          </c:spPr>
          <c:marker>
            <c:symbol val="none"/>
          </c:marker>
          <c:cat>
            <c:numRef>
              <c:f>Sheet1!$A$2:$A$96</c:f>
              <c:numCache>
                <c:formatCode>General</c:formatCode>
                <c:ptCount val="95"/>
                <c:pt idx="0">
                  <c:v>6</c:v>
                </c:pt>
                <c:pt idx="1">
                  <c:v>21</c:v>
                </c:pt>
                <c:pt idx="2">
                  <c:v>30</c:v>
                </c:pt>
                <c:pt idx="3">
                  <c:v>40</c:v>
                </c:pt>
                <c:pt idx="4">
                  <c:v>48</c:v>
                </c:pt>
                <c:pt idx="5">
                  <c:v>56</c:v>
                </c:pt>
                <c:pt idx="6">
                  <c:v>62</c:v>
                </c:pt>
                <c:pt idx="7">
                  <c:v>71</c:v>
                </c:pt>
                <c:pt idx="8">
                  <c:v>77</c:v>
                </c:pt>
                <c:pt idx="9">
                  <c:v>83</c:v>
                </c:pt>
                <c:pt idx="10">
                  <c:v>89</c:v>
                </c:pt>
                <c:pt idx="11">
                  <c:v>95</c:v>
                </c:pt>
                <c:pt idx="12">
                  <c:v>101</c:v>
                </c:pt>
                <c:pt idx="13">
                  <c:v>107</c:v>
                </c:pt>
                <c:pt idx="14">
                  <c:v>113</c:v>
                </c:pt>
                <c:pt idx="15">
                  <c:v>119</c:v>
                </c:pt>
                <c:pt idx="16">
                  <c:v>125</c:v>
                </c:pt>
                <c:pt idx="17">
                  <c:v>131</c:v>
                </c:pt>
                <c:pt idx="18">
                  <c:v>137</c:v>
                </c:pt>
                <c:pt idx="19">
                  <c:v>143</c:v>
                </c:pt>
                <c:pt idx="20">
                  <c:v>150</c:v>
                </c:pt>
                <c:pt idx="21">
                  <c:v>156</c:v>
                </c:pt>
                <c:pt idx="22">
                  <c:v>162</c:v>
                </c:pt>
                <c:pt idx="23">
                  <c:v>168</c:v>
                </c:pt>
                <c:pt idx="24">
                  <c:v>174</c:v>
                </c:pt>
                <c:pt idx="25">
                  <c:v>180</c:v>
                </c:pt>
                <c:pt idx="26">
                  <c:v>186</c:v>
                </c:pt>
                <c:pt idx="27">
                  <c:v>192</c:v>
                </c:pt>
                <c:pt idx="28">
                  <c:v>198</c:v>
                </c:pt>
                <c:pt idx="29">
                  <c:v>204</c:v>
                </c:pt>
                <c:pt idx="30">
                  <c:v>210</c:v>
                </c:pt>
                <c:pt idx="31">
                  <c:v>216</c:v>
                </c:pt>
                <c:pt idx="32">
                  <c:v>222</c:v>
                </c:pt>
                <c:pt idx="33">
                  <c:v>228</c:v>
                </c:pt>
                <c:pt idx="34">
                  <c:v>234</c:v>
                </c:pt>
                <c:pt idx="35">
                  <c:v>240</c:v>
                </c:pt>
                <c:pt idx="36">
                  <c:v>246</c:v>
                </c:pt>
                <c:pt idx="37">
                  <c:v>252</c:v>
                </c:pt>
                <c:pt idx="38">
                  <c:v>258</c:v>
                </c:pt>
                <c:pt idx="39">
                  <c:v>264</c:v>
                </c:pt>
                <c:pt idx="40">
                  <c:v>270</c:v>
                </c:pt>
                <c:pt idx="41">
                  <c:v>276</c:v>
                </c:pt>
                <c:pt idx="42">
                  <c:v>282</c:v>
                </c:pt>
                <c:pt idx="43">
                  <c:v>288</c:v>
                </c:pt>
                <c:pt idx="44">
                  <c:v>294</c:v>
                </c:pt>
                <c:pt idx="45">
                  <c:v>300</c:v>
                </c:pt>
                <c:pt idx="46">
                  <c:v>306</c:v>
                </c:pt>
                <c:pt idx="47">
                  <c:v>312</c:v>
                </c:pt>
                <c:pt idx="48">
                  <c:v>318</c:v>
                </c:pt>
                <c:pt idx="49">
                  <c:v>324</c:v>
                </c:pt>
                <c:pt idx="50">
                  <c:v>330</c:v>
                </c:pt>
                <c:pt idx="51">
                  <c:v>336</c:v>
                </c:pt>
                <c:pt idx="52">
                  <c:v>342</c:v>
                </c:pt>
                <c:pt idx="53">
                  <c:v>348</c:v>
                </c:pt>
                <c:pt idx="54">
                  <c:v>354</c:v>
                </c:pt>
                <c:pt idx="55">
                  <c:v>360</c:v>
                </c:pt>
                <c:pt idx="56">
                  <c:v>366</c:v>
                </c:pt>
                <c:pt idx="57">
                  <c:v>372</c:v>
                </c:pt>
                <c:pt idx="58">
                  <c:v>378</c:v>
                </c:pt>
                <c:pt idx="59">
                  <c:v>384</c:v>
                </c:pt>
                <c:pt idx="60">
                  <c:v>390</c:v>
                </c:pt>
                <c:pt idx="61">
                  <c:v>396</c:v>
                </c:pt>
                <c:pt idx="62">
                  <c:v>402</c:v>
                </c:pt>
                <c:pt idx="63">
                  <c:v>408</c:v>
                </c:pt>
                <c:pt idx="64">
                  <c:v>414</c:v>
                </c:pt>
                <c:pt idx="65">
                  <c:v>420</c:v>
                </c:pt>
                <c:pt idx="66">
                  <c:v>426</c:v>
                </c:pt>
                <c:pt idx="67">
                  <c:v>432</c:v>
                </c:pt>
                <c:pt idx="68">
                  <c:v>438</c:v>
                </c:pt>
                <c:pt idx="69">
                  <c:v>444</c:v>
                </c:pt>
                <c:pt idx="70">
                  <c:v>450</c:v>
                </c:pt>
                <c:pt idx="71">
                  <c:v>456</c:v>
                </c:pt>
                <c:pt idx="72">
                  <c:v>462</c:v>
                </c:pt>
                <c:pt idx="73">
                  <c:v>468</c:v>
                </c:pt>
                <c:pt idx="74">
                  <c:v>474</c:v>
                </c:pt>
                <c:pt idx="75">
                  <c:v>480</c:v>
                </c:pt>
                <c:pt idx="76">
                  <c:v>486</c:v>
                </c:pt>
                <c:pt idx="77">
                  <c:v>492</c:v>
                </c:pt>
                <c:pt idx="78">
                  <c:v>498</c:v>
                </c:pt>
                <c:pt idx="79">
                  <c:v>504</c:v>
                </c:pt>
                <c:pt idx="80">
                  <c:v>510</c:v>
                </c:pt>
                <c:pt idx="81">
                  <c:v>516</c:v>
                </c:pt>
                <c:pt idx="82">
                  <c:v>522</c:v>
                </c:pt>
                <c:pt idx="83">
                  <c:v>528</c:v>
                </c:pt>
                <c:pt idx="84">
                  <c:v>534</c:v>
                </c:pt>
                <c:pt idx="85">
                  <c:v>540</c:v>
                </c:pt>
                <c:pt idx="86">
                  <c:v>546</c:v>
                </c:pt>
                <c:pt idx="87">
                  <c:v>552</c:v>
                </c:pt>
                <c:pt idx="88">
                  <c:v>558</c:v>
                </c:pt>
                <c:pt idx="89">
                  <c:v>564</c:v>
                </c:pt>
                <c:pt idx="90">
                  <c:v>570</c:v>
                </c:pt>
                <c:pt idx="91">
                  <c:v>576</c:v>
                </c:pt>
                <c:pt idx="92">
                  <c:v>582</c:v>
                </c:pt>
                <c:pt idx="93">
                  <c:v>588</c:v>
                </c:pt>
                <c:pt idx="94">
                  <c:v>594</c:v>
                </c:pt>
              </c:numCache>
            </c:numRef>
          </c:cat>
          <c:val>
            <c:numRef>
              <c:f>Sheet1!$C$2:$C$96</c:f>
              <c:numCache>
                <c:formatCode>General</c:formatCode>
                <c:ptCount val="95"/>
                <c:pt idx="0">
                  <c:v>0.245</c:v>
                </c:pt>
                <c:pt idx="1">
                  <c:v>1.0589999999999999</c:v>
                </c:pt>
                <c:pt idx="2">
                  <c:v>1.1539999999999999</c:v>
                </c:pt>
                <c:pt idx="3">
                  <c:v>1.2929999999999999</c:v>
                </c:pt>
                <c:pt idx="4">
                  <c:v>1.5049999999999999</c:v>
                </c:pt>
                <c:pt idx="5">
                  <c:v>1.5</c:v>
                </c:pt>
                <c:pt idx="6">
                  <c:v>1.5649999999999999</c:v>
                </c:pt>
                <c:pt idx="7">
                  <c:v>1.528</c:v>
                </c:pt>
                <c:pt idx="8">
                  <c:v>1.5580000000000001</c:v>
                </c:pt>
                <c:pt idx="9">
                  <c:v>1.5669999999999999</c:v>
                </c:pt>
                <c:pt idx="10">
                  <c:v>1.4710000000000001</c:v>
                </c:pt>
                <c:pt idx="11">
                  <c:v>1.63</c:v>
                </c:pt>
                <c:pt idx="12">
                  <c:v>1.522</c:v>
                </c:pt>
                <c:pt idx="13">
                  <c:v>1.5009999999999999</c:v>
                </c:pt>
                <c:pt idx="14">
                  <c:v>1.421</c:v>
                </c:pt>
                <c:pt idx="15">
                  <c:v>1.4179999999999999</c:v>
                </c:pt>
                <c:pt idx="16">
                  <c:v>1.6</c:v>
                </c:pt>
                <c:pt idx="17">
                  <c:v>1.498</c:v>
                </c:pt>
                <c:pt idx="18">
                  <c:v>1.482</c:v>
                </c:pt>
                <c:pt idx="19">
                  <c:v>1.4570000000000001</c:v>
                </c:pt>
                <c:pt idx="20">
                  <c:v>1.401</c:v>
                </c:pt>
                <c:pt idx="21">
                  <c:v>1.339</c:v>
                </c:pt>
                <c:pt idx="22">
                  <c:v>1.1439999999999999</c:v>
                </c:pt>
                <c:pt idx="23">
                  <c:v>1.4410000000000001</c:v>
                </c:pt>
                <c:pt idx="24">
                  <c:v>1.518</c:v>
                </c:pt>
                <c:pt idx="25">
                  <c:v>1.748</c:v>
                </c:pt>
                <c:pt idx="26">
                  <c:v>1.798</c:v>
                </c:pt>
                <c:pt idx="27">
                  <c:v>1.585</c:v>
                </c:pt>
                <c:pt idx="28">
                  <c:v>1.4039999999999999</c:v>
                </c:pt>
                <c:pt idx="29">
                  <c:v>1.4390000000000001</c:v>
                </c:pt>
                <c:pt idx="30">
                  <c:v>1.4339999999999999</c:v>
                </c:pt>
                <c:pt idx="31">
                  <c:v>1.4970000000000001</c:v>
                </c:pt>
                <c:pt idx="32">
                  <c:v>1.6890000000000001</c:v>
                </c:pt>
                <c:pt idx="33">
                  <c:v>1.5449999999999999</c:v>
                </c:pt>
                <c:pt idx="34">
                  <c:v>1.456</c:v>
                </c:pt>
                <c:pt idx="35">
                  <c:v>1.581</c:v>
                </c:pt>
                <c:pt idx="36">
                  <c:v>1.5720000000000001</c:v>
                </c:pt>
                <c:pt idx="37">
                  <c:v>1.599</c:v>
                </c:pt>
                <c:pt idx="38">
                  <c:v>1.397</c:v>
                </c:pt>
                <c:pt idx="39">
                  <c:v>1.343</c:v>
                </c:pt>
                <c:pt idx="40">
                  <c:v>1.41</c:v>
                </c:pt>
                <c:pt idx="41">
                  <c:v>1.391</c:v>
                </c:pt>
                <c:pt idx="42">
                  <c:v>1.6</c:v>
                </c:pt>
                <c:pt idx="43">
                  <c:v>1.6639999999999999</c:v>
                </c:pt>
                <c:pt idx="44">
                  <c:v>1.776</c:v>
                </c:pt>
                <c:pt idx="45">
                  <c:v>1.585</c:v>
                </c:pt>
                <c:pt idx="46">
                  <c:v>1.306</c:v>
                </c:pt>
                <c:pt idx="47">
                  <c:v>1.2529999999999999</c:v>
                </c:pt>
                <c:pt idx="48">
                  <c:v>1.3340000000000001</c:v>
                </c:pt>
                <c:pt idx="49">
                  <c:v>1.357</c:v>
                </c:pt>
                <c:pt idx="50">
                  <c:v>1.556</c:v>
                </c:pt>
                <c:pt idx="51">
                  <c:v>1.4279999999999999</c:v>
                </c:pt>
                <c:pt idx="52">
                  <c:v>1.262</c:v>
                </c:pt>
                <c:pt idx="53">
                  <c:v>1.2629999999999999</c:v>
                </c:pt>
                <c:pt idx="54">
                  <c:v>1.1910000000000001</c:v>
                </c:pt>
                <c:pt idx="55">
                  <c:v>1.345</c:v>
                </c:pt>
                <c:pt idx="56">
                  <c:v>1.5860000000000001</c:v>
                </c:pt>
                <c:pt idx="57">
                  <c:v>1.5</c:v>
                </c:pt>
                <c:pt idx="58">
                  <c:v>1.6439999999999999</c:v>
                </c:pt>
                <c:pt idx="59">
                  <c:v>1.5589999999999999</c:v>
                </c:pt>
                <c:pt idx="60">
                  <c:v>1.32</c:v>
                </c:pt>
                <c:pt idx="61">
                  <c:v>1.32</c:v>
                </c:pt>
                <c:pt idx="62">
                  <c:v>1.298</c:v>
                </c:pt>
                <c:pt idx="63">
                  <c:v>1.34</c:v>
                </c:pt>
                <c:pt idx="64">
                  <c:v>1.383</c:v>
                </c:pt>
                <c:pt idx="65">
                  <c:v>1.3779999999999999</c:v>
                </c:pt>
                <c:pt idx="66">
                  <c:v>1.512</c:v>
                </c:pt>
                <c:pt idx="67">
                  <c:v>1.538</c:v>
                </c:pt>
                <c:pt idx="68">
                  <c:v>1.4810000000000001</c:v>
                </c:pt>
                <c:pt idx="69">
                  <c:v>1.62</c:v>
                </c:pt>
                <c:pt idx="70">
                  <c:v>1.292</c:v>
                </c:pt>
                <c:pt idx="71">
                  <c:v>1.4359999999999999</c:v>
                </c:pt>
                <c:pt idx="72">
                  <c:v>1.601</c:v>
                </c:pt>
                <c:pt idx="73">
                  <c:v>1.6459999999999999</c:v>
                </c:pt>
                <c:pt idx="74">
                  <c:v>1.786</c:v>
                </c:pt>
                <c:pt idx="75">
                  <c:v>1.5920000000000001</c:v>
                </c:pt>
                <c:pt idx="76">
                  <c:v>1.641</c:v>
                </c:pt>
                <c:pt idx="77">
                  <c:v>1.581</c:v>
                </c:pt>
                <c:pt idx="78">
                  <c:v>1.6619999999999999</c:v>
                </c:pt>
                <c:pt idx="79">
                  <c:v>1.704</c:v>
                </c:pt>
                <c:pt idx="80">
                  <c:v>1.569</c:v>
                </c:pt>
                <c:pt idx="81">
                  <c:v>1.679</c:v>
                </c:pt>
                <c:pt idx="82">
                  <c:v>1.468</c:v>
                </c:pt>
                <c:pt idx="83">
                  <c:v>1.3680000000000001</c:v>
                </c:pt>
                <c:pt idx="84">
                  <c:v>1.3009999999999999</c:v>
                </c:pt>
                <c:pt idx="85">
                  <c:v>1.3440000000000001</c:v>
                </c:pt>
                <c:pt idx="86">
                  <c:v>1.4570000000000001</c:v>
                </c:pt>
                <c:pt idx="87">
                  <c:v>1.4730000000000001</c:v>
                </c:pt>
                <c:pt idx="88">
                  <c:v>1.677</c:v>
                </c:pt>
                <c:pt idx="89">
                  <c:v>1.506</c:v>
                </c:pt>
                <c:pt idx="90">
                  <c:v>1.43</c:v>
                </c:pt>
                <c:pt idx="91">
                  <c:v>1.3839999999999999</c:v>
                </c:pt>
                <c:pt idx="92">
                  <c:v>1.456</c:v>
                </c:pt>
                <c:pt idx="93">
                  <c:v>1.5</c:v>
                </c:pt>
                <c:pt idx="94">
                  <c:v>1.4790000000000001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AC-A84B-9EF2-EAFCB02E0E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C9C9C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latin typeface="Cambria"/>
              </a:rPr>
              <a:t>evaluation (rolling mean) over 600 exposures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Design 5 (uncontrolled)</c:v>
                </c:pt>
              </c:strCache>
            </c:strRef>
          </c:tx>
          <c:spPr>
            <a:ln w="25400">
              <a:solidFill>
                <a:srgbClr val="747474"/>
              </a:solidFill>
            </a:ln>
          </c:spPr>
          <c:marker>
            <c:symbol val="none"/>
          </c:marker>
          <c:cat>
            <c:numRef>
              <c:f>Sheet1!$A$2:$A$96</c:f>
              <c:numCache>
                <c:formatCode>General</c:formatCode>
                <c:ptCount val="95"/>
                <c:pt idx="0">
                  <c:v>6</c:v>
                </c:pt>
                <c:pt idx="1">
                  <c:v>21</c:v>
                </c:pt>
                <c:pt idx="2">
                  <c:v>30</c:v>
                </c:pt>
                <c:pt idx="3">
                  <c:v>40</c:v>
                </c:pt>
                <c:pt idx="4">
                  <c:v>48</c:v>
                </c:pt>
                <c:pt idx="5">
                  <c:v>56</c:v>
                </c:pt>
                <c:pt idx="6">
                  <c:v>62</c:v>
                </c:pt>
                <c:pt idx="7">
                  <c:v>71</c:v>
                </c:pt>
                <c:pt idx="8">
                  <c:v>77</c:v>
                </c:pt>
                <c:pt idx="9">
                  <c:v>83</c:v>
                </c:pt>
                <c:pt idx="10">
                  <c:v>89</c:v>
                </c:pt>
                <c:pt idx="11">
                  <c:v>95</c:v>
                </c:pt>
                <c:pt idx="12">
                  <c:v>101</c:v>
                </c:pt>
                <c:pt idx="13">
                  <c:v>107</c:v>
                </c:pt>
                <c:pt idx="14">
                  <c:v>113</c:v>
                </c:pt>
                <c:pt idx="15">
                  <c:v>119</c:v>
                </c:pt>
                <c:pt idx="16">
                  <c:v>125</c:v>
                </c:pt>
                <c:pt idx="17">
                  <c:v>131</c:v>
                </c:pt>
                <c:pt idx="18">
                  <c:v>137</c:v>
                </c:pt>
                <c:pt idx="19">
                  <c:v>143</c:v>
                </c:pt>
                <c:pt idx="20">
                  <c:v>150</c:v>
                </c:pt>
                <c:pt idx="21">
                  <c:v>156</c:v>
                </c:pt>
                <c:pt idx="22">
                  <c:v>162</c:v>
                </c:pt>
                <c:pt idx="23">
                  <c:v>168</c:v>
                </c:pt>
                <c:pt idx="24">
                  <c:v>174</c:v>
                </c:pt>
                <c:pt idx="25">
                  <c:v>180</c:v>
                </c:pt>
                <c:pt idx="26">
                  <c:v>186</c:v>
                </c:pt>
                <c:pt idx="27">
                  <c:v>192</c:v>
                </c:pt>
                <c:pt idx="28">
                  <c:v>198</c:v>
                </c:pt>
                <c:pt idx="29">
                  <c:v>204</c:v>
                </c:pt>
                <c:pt idx="30">
                  <c:v>210</c:v>
                </c:pt>
                <c:pt idx="31">
                  <c:v>216</c:v>
                </c:pt>
                <c:pt idx="32">
                  <c:v>222</c:v>
                </c:pt>
                <c:pt idx="33">
                  <c:v>228</c:v>
                </c:pt>
                <c:pt idx="34">
                  <c:v>234</c:v>
                </c:pt>
                <c:pt idx="35">
                  <c:v>240</c:v>
                </c:pt>
                <c:pt idx="36">
                  <c:v>246</c:v>
                </c:pt>
                <c:pt idx="37">
                  <c:v>252</c:v>
                </c:pt>
                <c:pt idx="38">
                  <c:v>258</c:v>
                </c:pt>
                <c:pt idx="39">
                  <c:v>264</c:v>
                </c:pt>
                <c:pt idx="40">
                  <c:v>270</c:v>
                </c:pt>
                <c:pt idx="41">
                  <c:v>276</c:v>
                </c:pt>
                <c:pt idx="42">
                  <c:v>282</c:v>
                </c:pt>
                <c:pt idx="43">
                  <c:v>288</c:v>
                </c:pt>
                <c:pt idx="44">
                  <c:v>294</c:v>
                </c:pt>
                <c:pt idx="45">
                  <c:v>300</c:v>
                </c:pt>
                <c:pt idx="46">
                  <c:v>306</c:v>
                </c:pt>
                <c:pt idx="47">
                  <c:v>312</c:v>
                </c:pt>
                <c:pt idx="48">
                  <c:v>318</c:v>
                </c:pt>
                <c:pt idx="49">
                  <c:v>324</c:v>
                </c:pt>
                <c:pt idx="50">
                  <c:v>330</c:v>
                </c:pt>
                <c:pt idx="51">
                  <c:v>336</c:v>
                </c:pt>
                <c:pt idx="52">
                  <c:v>342</c:v>
                </c:pt>
                <c:pt idx="53">
                  <c:v>348</c:v>
                </c:pt>
                <c:pt idx="54">
                  <c:v>354</c:v>
                </c:pt>
                <c:pt idx="55">
                  <c:v>360</c:v>
                </c:pt>
                <c:pt idx="56">
                  <c:v>366</c:v>
                </c:pt>
                <c:pt idx="57">
                  <c:v>372</c:v>
                </c:pt>
                <c:pt idx="58">
                  <c:v>378</c:v>
                </c:pt>
                <c:pt idx="59">
                  <c:v>384</c:v>
                </c:pt>
                <c:pt idx="60">
                  <c:v>390</c:v>
                </c:pt>
                <c:pt idx="61">
                  <c:v>396</c:v>
                </c:pt>
                <c:pt idx="62">
                  <c:v>402</c:v>
                </c:pt>
                <c:pt idx="63">
                  <c:v>408</c:v>
                </c:pt>
                <c:pt idx="64">
                  <c:v>414</c:v>
                </c:pt>
                <c:pt idx="65">
                  <c:v>420</c:v>
                </c:pt>
                <c:pt idx="66">
                  <c:v>426</c:v>
                </c:pt>
                <c:pt idx="67">
                  <c:v>432</c:v>
                </c:pt>
                <c:pt idx="68">
                  <c:v>438</c:v>
                </c:pt>
                <c:pt idx="69">
                  <c:v>444</c:v>
                </c:pt>
                <c:pt idx="70">
                  <c:v>450</c:v>
                </c:pt>
                <c:pt idx="71">
                  <c:v>456</c:v>
                </c:pt>
                <c:pt idx="72">
                  <c:v>462</c:v>
                </c:pt>
                <c:pt idx="73">
                  <c:v>468</c:v>
                </c:pt>
                <c:pt idx="74">
                  <c:v>474</c:v>
                </c:pt>
                <c:pt idx="75">
                  <c:v>480</c:v>
                </c:pt>
                <c:pt idx="76">
                  <c:v>486</c:v>
                </c:pt>
                <c:pt idx="77">
                  <c:v>492</c:v>
                </c:pt>
                <c:pt idx="78">
                  <c:v>498</c:v>
                </c:pt>
                <c:pt idx="79">
                  <c:v>504</c:v>
                </c:pt>
                <c:pt idx="80">
                  <c:v>510</c:v>
                </c:pt>
                <c:pt idx="81">
                  <c:v>516</c:v>
                </c:pt>
                <c:pt idx="82">
                  <c:v>522</c:v>
                </c:pt>
                <c:pt idx="83">
                  <c:v>528</c:v>
                </c:pt>
                <c:pt idx="84">
                  <c:v>534</c:v>
                </c:pt>
                <c:pt idx="85">
                  <c:v>540</c:v>
                </c:pt>
                <c:pt idx="86">
                  <c:v>546</c:v>
                </c:pt>
                <c:pt idx="87">
                  <c:v>552</c:v>
                </c:pt>
                <c:pt idx="88">
                  <c:v>558</c:v>
                </c:pt>
                <c:pt idx="89">
                  <c:v>564</c:v>
                </c:pt>
                <c:pt idx="90">
                  <c:v>570</c:v>
                </c:pt>
                <c:pt idx="91">
                  <c:v>576</c:v>
                </c:pt>
                <c:pt idx="92">
                  <c:v>582</c:v>
                </c:pt>
                <c:pt idx="93">
                  <c:v>588</c:v>
                </c:pt>
                <c:pt idx="94">
                  <c:v>594</c:v>
                </c:pt>
              </c:numCache>
            </c:numRef>
          </c:cat>
          <c:val>
            <c:numRef>
              <c:f>Sheet1!$B$2:$B$96</c:f>
              <c:numCache>
                <c:formatCode>General</c:formatCode>
                <c:ptCount val="9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0.63</c:v>
                </c:pt>
                <c:pt idx="5">
                  <c:v>0.71499999999999997</c:v>
                </c:pt>
                <c:pt idx="6">
                  <c:v>0.83499999999999996</c:v>
                </c:pt>
                <c:pt idx="7">
                  <c:v>0.86799999999999999</c:v>
                </c:pt>
                <c:pt idx="8">
                  <c:v>0.85199999999999998</c:v>
                </c:pt>
                <c:pt idx="9">
                  <c:v>0.88700000000000001</c:v>
                </c:pt>
                <c:pt idx="10">
                  <c:v>0.73599999999999999</c:v>
                </c:pt>
                <c:pt idx="11">
                  <c:v>0.755</c:v>
                </c:pt>
                <c:pt idx="12">
                  <c:v>0.72799999999999998</c:v>
                </c:pt>
                <c:pt idx="13">
                  <c:v>0.73699999999999999</c:v>
                </c:pt>
                <c:pt idx="14">
                  <c:v>0.749</c:v>
                </c:pt>
                <c:pt idx="15">
                  <c:v>0.76500000000000001</c:v>
                </c:pt>
                <c:pt idx="16">
                  <c:v>0.75900000000000001</c:v>
                </c:pt>
                <c:pt idx="17">
                  <c:v>0.73799999999999999</c:v>
                </c:pt>
                <c:pt idx="18">
                  <c:v>0.752</c:v>
                </c:pt>
                <c:pt idx="19">
                  <c:v>0.748</c:v>
                </c:pt>
                <c:pt idx="20">
                  <c:v>0.745</c:v>
                </c:pt>
                <c:pt idx="21">
                  <c:v>0.69199999999999995</c:v>
                </c:pt>
                <c:pt idx="22">
                  <c:v>0.59399999999999997</c:v>
                </c:pt>
                <c:pt idx="23">
                  <c:v>0.57799999999999996</c:v>
                </c:pt>
                <c:pt idx="24">
                  <c:v>0.68</c:v>
                </c:pt>
                <c:pt idx="25">
                  <c:v>0.82299999999999995</c:v>
                </c:pt>
                <c:pt idx="26">
                  <c:v>0.80700000000000005</c:v>
                </c:pt>
                <c:pt idx="27">
                  <c:v>0.86699999999999999</c:v>
                </c:pt>
                <c:pt idx="28">
                  <c:v>0.81699999999999995</c:v>
                </c:pt>
                <c:pt idx="29">
                  <c:v>0.83</c:v>
                </c:pt>
                <c:pt idx="30">
                  <c:v>0.85299999999999998</c:v>
                </c:pt>
                <c:pt idx="31">
                  <c:v>0.86299999999999999</c:v>
                </c:pt>
                <c:pt idx="32">
                  <c:v>0.88700000000000001</c:v>
                </c:pt>
                <c:pt idx="33">
                  <c:v>0.84799999999999998</c:v>
                </c:pt>
                <c:pt idx="34">
                  <c:v>0.83899999999999997</c:v>
                </c:pt>
                <c:pt idx="35">
                  <c:v>0.81200000000000006</c:v>
                </c:pt>
                <c:pt idx="36">
                  <c:v>0.85</c:v>
                </c:pt>
                <c:pt idx="37">
                  <c:v>0.79600000000000004</c:v>
                </c:pt>
                <c:pt idx="38">
                  <c:v>0.79900000000000004</c:v>
                </c:pt>
                <c:pt idx="39">
                  <c:v>0.754</c:v>
                </c:pt>
                <c:pt idx="40">
                  <c:v>0.74399999999999999</c:v>
                </c:pt>
                <c:pt idx="41">
                  <c:v>0.77100000000000002</c:v>
                </c:pt>
                <c:pt idx="42">
                  <c:v>0.82399999999999995</c:v>
                </c:pt>
                <c:pt idx="43">
                  <c:v>0.81499999999999995</c:v>
                </c:pt>
                <c:pt idx="44">
                  <c:v>0.81499999999999995</c:v>
                </c:pt>
                <c:pt idx="45">
                  <c:v>0.79</c:v>
                </c:pt>
                <c:pt idx="46">
                  <c:v>0.751</c:v>
                </c:pt>
                <c:pt idx="47">
                  <c:v>0.76600000000000001</c:v>
                </c:pt>
                <c:pt idx="48">
                  <c:v>0.74199999999999999</c:v>
                </c:pt>
                <c:pt idx="49">
                  <c:v>0.79500000000000004</c:v>
                </c:pt>
                <c:pt idx="50">
                  <c:v>0.80500000000000005</c:v>
                </c:pt>
                <c:pt idx="51">
                  <c:v>0.83</c:v>
                </c:pt>
                <c:pt idx="52">
                  <c:v>0.71099999999999997</c:v>
                </c:pt>
                <c:pt idx="53">
                  <c:v>0.71199999999999997</c:v>
                </c:pt>
                <c:pt idx="54">
                  <c:v>0.72799999999999998</c:v>
                </c:pt>
                <c:pt idx="55">
                  <c:v>0.73</c:v>
                </c:pt>
                <c:pt idx="56">
                  <c:v>0.752</c:v>
                </c:pt>
                <c:pt idx="57">
                  <c:v>0.77</c:v>
                </c:pt>
                <c:pt idx="58">
                  <c:v>0.82299999999999995</c:v>
                </c:pt>
                <c:pt idx="59">
                  <c:v>0.86499999999999999</c:v>
                </c:pt>
                <c:pt idx="60">
                  <c:v>0.86199999999999999</c:v>
                </c:pt>
                <c:pt idx="61">
                  <c:v>0.86099999999999999</c:v>
                </c:pt>
                <c:pt idx="62">
                  <c:v>0.85399999999999998</c:v>
                </c:pt>
                <c:pt idx="63">
                  <c:v>0.80400000000000005</c:v>
                </c:pt>
                <c:pt idx="64">
                  <c:v>0.82899999999999996</c:v>
                </c:pt>
                <c:pt idx="65">
                  <c:v>0.83799999999999997</c:v>
                </c:pt>
                <c:pt idx="66">
                  <c:v>0.71599999999999997</c:v>
                </c:pt>
                <c:pt idx="67">
                  <c:v>0.71</c:v>
                </c:pt>
                <c:pt idx="68">
                  <c:v>0.68500000000000005</c:v>
                </c:pt>
                <c:pt idx="69">
                  <c:v>0.76300000000000001</c:v>
                </c:pt>
                <c:pt idx="70">
                  <c:v>0.85599999999999998</c:v>
                </c:pt>
                <c:pt idx="71">
                  <c:v>0.85</c:v>
                </c:pt>
                <c:pt idx="72">
                  <c:v>0.73799999999999999</c:v>
                </c:pt>
                <c:pt idx="73">
                  <c:v>0.75800000000000001</c:v>
                </c:pt>
                <c:pt idx="74">
                  <c:v>0.746</c:v>
                </c:pt>
                <c:pt idx="75">
                  <c:v>0.81799999999999995</c:v>
                </c:pt>
                <c:pt idx="76">
                  <c:v>0.82599999999999996</c:v>
                </c:pt>
                <c:pt idx="77">
                  <c:v>0.73499999999999999</c:v>
                </c:pt>
                <c:pt idx="78">
                  <c:v>0.80800000000000005</c:v>
                </c:pt>
                <c:pt idx="79">
                  <c:v>0.81299999999999994</c:v>
                </c:pt>
                <c:pt idx="80">
                  <c:v>0.85599999999999998</c:v>
                </c:pt>
                <c:pt idx="81">
                  <c:v>0.91200000000000003</c:v>
                </c:pt>
                <c:pt idx="82">
                  <c:v>0.878</c:v>
                </c:pt>
                <c:pt idx="83">
                  <c:v>0.85599999999999998</c:v>
                </c:pt>
                <c:pt idx="84">
                  <c:v>0.77100000000000002</c:v>
                </c:pt>
                <c:pt idx="85">
                  <c:v>0.76700000000000002</c:v>
                </c:pt>
                <c:pt idx="86">
                  <c:v>0.77900000000000003</c:v>
                </c:pt>
                <c:pt idx="87">
                  <c:v>0.81100000000000005</c:v>
                </c:pt>
                <c:pt idx="88">
                  <c:v>0.85499999999999998</c:v>
                </c:pt>
                <c:pt idx="89">
                  <c:v>0.83699999999999997</c:v>
                </c:pt>
                <c:pt idx="90">
                  <c:v>0.81100000000000005</c:v>
                </c:pt>
                <c:pt idx="91">
                  <c:v>0.76100000000000001</c:v>
                </c:pt>
                <c:pt idx="92">
                  <c:v>0.71899999999999997</c:v>
                </c:pt>
                <c:pt idx="93">
                  <c:v>0.75700000000000001</c:v>
                </c:pt>
                <c:pt idx="94">
                  <c:v>0.78100000000000003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C9-834A-BFCF-34EDA3BBBF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C1 (evaluation-only)</c:v>
                </c:pt>
              </c:strCache>
            </c:strRef>
          </c:tx>
          <c:spPr>
            <a:ln w="30480">
              <a:solidFill>
                <a:srgbClr val="3D6E9E"/>
              </a:solidFill>
            </a:ln>
          </c:spPr>
          <c:marker>
            <c:symbol val="none"/>
          </c:marker>
          <c:cat>
            <c:numRef>
              <c:f>Sheet1!$A$2:$A$96</c:f>
              <c:numCache>
                <c:formatCode>General</c:formatCode>
                <c:ptCount val="95"/>
                <c:pt idx="0">
                  <c:v>6</c:v>
                </c:pt>
                <c:pt idx="1">
                  <c:v>21</c:v>
                </c:pt>
                <c:pt idx="2">
                  <c:v>30</c:v>
                </c:pt>
                <c:pt idx="3">
                  <c:v>40</c:v>
                </c:pt>
                <c:pt idx="4">
                  <c:v>48</c:v>
                </c:pt>
                <c:pt idx="5">
                  <c:v>56</c:v>
                </c:pt>
                <c:pt idx="6">
                  <c:v>62</c:v>
                </c:pt>
                <c:pt idx="7">
                  <c:v>71</c:v>
                </c:pt>
                <c:pt idx="8">
                  <c:v>77</c:v>
                </c:pt>
                <c:pt idx="9">
                  <c:v>83</c:v>
                </c:pt>
                <c:pt idx="10">
                  <c:v>89</c:v>
                </c:pt>
                <c:pt idx="11">
                  <c:v>95</c:v>
                </c:pt>
                <c:pt idx="12">
                  <c:v>101</c:v>
                </c:pt>
                <c:pt idx="13">
                  <c:v>107</c:v>
                </c:pt>
                <c:pt idx="14">
                  <c:v>113</c:v>
                </c:pt>
                <c:pt idx="15">
                  <c:v>119</c:v>
                </c:pt>
                <c:pt idx="16">
                  <c:v>125</c:v>
                </c:pt>
                <c:pt idx="17">
                  <c:v>131</c:v>
                </c:pt>
                <c:pt idx="18">
                  <c:v>137</c:v>
                </c:pt>
                <c:pt idx="19">
                  <c:v>143</c:v>
                </c:pt>
                <c:pt idx="20">
                  <c:v>150</c:v>
                </c:pt>
                <c:pt idx="21">
                  <c:v>156</c:v>
                </c:pt>
                <c:pt idx="22">
                  <c:v>162</c:v>
                </c:pt>
                <c:pt idx="23">
                  <c:v>168</c:v>
                </c:pt>
                <c:pt idx="24">
                  <c:v>174</c:v>
                </c:pt>
                <c:pt idx="25">
                  <c:v>180</c:v>
                </c:pt>
                <c:pt idx="26">
                  <c:v>186</c:v>
                </c:pt>
                <c:pt idx="27">
                  <c:v>192</c:v>
                </c:pt>
                <c:pt idx="28">
                  <c:v>198</c:v>
                </c:pt>
                <c:pt idx="29">
                  <c:v>204</c:v>
                </c:pt>
                <c:pt idx="30">
                  <c:v>210</c:v>
                </c:pt>
                <c:pt idx="31">
                  <c:v>216</c:v>
                </c:pt>
                <c:pt idx="32">
                  <c:v>222</c:v>
                </c:pt>
                <c:pt idx="33">
                  <c:v>228</c:v>
                </c:pt>
                <c:pt idx="34">
                  <c:v>234</c:v>
                </c:pt>
                <c:pt idx="35">
                  <c:v>240</c:v>
                </c:pt>
                <c:pt idx="36">
                  <c:v>246</c:v>
                </c:pt>
                <c:pt idx="37">
                  <c:v>252</c:v>
                </c:pt>
                <c:pt idx="38">
                  <c:v>258</c:v>
                </c:pt>
                <c:pt idx="39">
                  <c:v>264</c:v>
                </c:pt>
                <c:pt idx="40">
                  <c:v>270</c:v>
                </c:pt>
                <c:pt idx="41">
                  <c:v>276</c:v>
                </c:pt>
                <c:pt idx="42">
                  <c:v>282</c:v>
                </c:pt>
                <c:pt idx="43">
                  <c:v>288</c:v>
                </c:pt>
                <c:pt idx="44">
                  <c:v>294</c:v>
                </c:pt>
                <c:pt idx="45">
                  <c:v>300</c:v>
                </c:pt>
                <c:pt idx="46">
                  <c:v>306</c:v>
                </c:pt>
                <c:pt idx="47">
                  <c:v>312</c:v>
                </c:pt>
                <c:pt idx="48">
                  <c:v>318</c:v>
                </c:pt>
                <c:pt idx="49">
                  <c:v>324</c:v>
                </c:pt>
                <c:pt idx="50">
                  <c:v>330</c:v>
                </c:pt>
                <c:pt idx="51">
                  <c:v>336</c:v>
                </c:pt>
                <c:pt idx="52">
                  <c:v>342</c:v>
                </c:pt>
                <c:pt idx="53">
                  <c:v>348</c:v>
                </c:pt>
                <c:pt idx="54">
                  <c:v>354</c:v>
                </c:pt>
                <c:pt idx="55">
                  <c:v>360</c:v>
                </c:pt>
                <c:pt idx="56">
                  <c:v>366</c:v>
                </c:pt>
                <c:pt idx="57">
                  <c:v>372</c:v>
                </c:pt>
                <c:pt idx="58">
                  <c:v>378</c:v>
                </c:pt>
                <c:pt idx="59">
                  <c:v>384</c:v>
                </c:pt>
                <c:pt idx="60">
                  <c:v>390</c:v>
                </c:pt>
                <c:pt idx="61">
                  <c:v>396</c:v>
                </c:pt>
                <c:pt idx="62">
                  <c:v>402</c:v>
                </c:pt>
                <c:pt idx="63">
                  <c:v>408</c:v>
                </c:pt>
                <c:pt idx="64">
                  <c:v>414</c:v>
                </c:pt>
                <c:pt idx="65">
                  <c:v>420</c:v>
                </c:pt>
                <c:pt idx="66">
                  <c:v>426</c:v>
                </c:pt>
                <c:pt idx="67">
                  <c:v>432</c:v>
                </c:pt>
                <c:pt idx="68">
                  <c:v>438</c:v>
                </c:pt>
                <c:pt idx="69">
                  <c:v>444</c:v>
                </c:pt>
                <c:pt idx="70">
                  <c:v>450</c:v>
                </c:pt>
                <c:pt idx="71">
                  <c:v>456</c:v>
                </c:pt>
                <c:pt idx="72">
                  <c:v>462</c:v>
                </c:pt>
                <c:pt idx="73">
                  <c:v>468</c:v>
                </c:pt>
                <c:pt idx="74">
                  <c:v>474</c:v>
                </c:pt>
                <c:pt idx="75">
                  <c:v>480</c:v>
                </c:pt>
                <c:pt idx="76">
                  <c:v>486</c:v>
                </c:pt>
                <c:pt idx="77">
                  <c:v>492</c:v>
                </c:pt>
                <c:pt idx="78">
                  <c:v>498</c:v>
                </c:pt>
                <c:pt idx="79">
                  <c:v>504</c:v>
                </c:pt>
                <c:pt idx="80">
                  <c:v>510</c:v>
                </c:pt>
                <c:pt idx="81">
                  <c:v>516</c:v>
                </c:pt>
                <c:pt idx="82">
                  <c:v>522</c:v>
                </c:pt>
                <c:pt idx="83">
                  <c:v>528</c:v>
                </c:pt>
                <c:pt idx="84">
                  <c:v>534</c:v>
                </c:pt>
                <c:pt idx="85">
                  <c:v>540</c:v>
                </c:pt>
                <c:pt idx="86">
                  <c:v>546</c:v>
                </c:pt>
                <c:pt idx="87">
                  <c:v>552</c:v>
                </c:pt>
                <c:pt idx="88">
                  <c:v>558</c:v>
                </c:pt>
                <c:pt idx="89">
                  <c:v>564</c:v>
                </c:pt>
                <c:pt idx="90">
                  <c:v>570</c:v>
                </c:pt>
                <c:pt idx="91">
                  <c:v>576</c:v>
                </c:pt>
                <c:pt idx="92">
                  <c:v>582</c:v>
                </c:pt>
                <c:pt idx="93">
                  <c:v>588</c:v>
                </c:pt>
                <c:pt idx="94">
                  <c:v>594</c:v>
                </c:pt>
              </c:numCache>
            </c:numRef>
          </c:cat>
          <c:val>
            <c:numRef>
              <c:f>Sheet1!$C$2:$C$96</c:f>
              <c:numCache>
                <c:formatCode>General</c:formatCode>
                <c:ptCount val="9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0.90400000000000003</c:v>
                </c:pt>
                <c:pt idx="5">
                  <c:v>0.92100000000000004</c:v>
                </c:pt>
                <c:pt idx="6">
                  <c:v>0.86099999999999999</c:v>
                </c:pt>
                <c:pt idx="7">
                  <c:v>0.86099999999999999</c:v>
                </c:pt>
                <c:pt idx="8">
                  <c:v>0.83499999999999996</c:v>
                </c:pt>
                <c:pt idx="9">
                  <c:v>0.79400000000000004</c:v>
                </c:pt>
                <c:pt idx="10">
                  <c:v>0.80100000000000005</c:v>
                </c:pt>
                <c:pt idx="11">
                  <c:v>0.81799999999999995</c:v>
                </c:pt>
                <c:pt idx="12">
                  <c:v>0.91400000000000003</c:v>
                </c:pt>
                <c:pt idx="13">
                  <c:v>0.93500000000000005</c:v>
                </c:pt>
                <c:pt idx="14">
                  <c:v>0.96299999999999997</c:v>
                </c:pt>
                <c:pt idx="15">
                  <c:v>0.93799999999999994</c:v>
                </c:pt>
                <c:pt idx="16">
                  <c:v>0.88800000000000001</c:v>
                </c:pt>
                <c:pt idx="17">
                  <c:v>0.84399999999999997</c:v>
                </c:pt>
                <c:pt idx="18">
                  <c:v>0.81499999999999995</c:v>
                </c:pt>
                <c:pt idx="19">
                  <c:v>0.86499999999999999</c:v>
                </c:pt>
                <c:pt idx="20">
                  <c:v>0.82599999999999996</c:v>
                </c:pt>
                <c:pt idx="21">
                  <c:v>0.876</c:v>
                </c:pt>
                <c:pt idx="22">
                  <c:v>0.88300000000000001</c:v>
                </c:pt>
                <c:pt idx="23">
                  <c:v>0.90200000000000002</c:v>
                </c:pt>
                <c:pt idx="24">
                  <c:v>0.91900000000000004</c:v>
                </c:pt>
                <c:pt idx="25">
                  <c:v>0.90800000000000003</c:v>
                </c:pt>
                <c:pt idx="26">
                  <c:v>0.90100000000000002</c:v>
                </c:pt>
                <c:pt idx="27">
                  <c:v>0.90700000000000003</c:v>
                </c:pt>
                <c:pt idx="28">
                  <c:v>0.91100000000000003</c:v>
                </c:pt>
                <c:pt idx="29">
                  <c:v>0.92800000000000005</c:v>
                </c:pt>
                <c:pt idx="30">
                  <c:v>0.93500000000000005</c:v>
                </c:pt>
                <c:pt idx="31">
                  <c:v>0.90300000000000002</c:v>
                </c:pt>
                <c:pt idx="32">
                  <c:v>0.91400000000000003</c:v>
                </c:pt>
                <c:pt idx="33">
                  <c:v>0.89500000000000002</c:v>
                </c:pt>
                <c:pt idx="34">
                  <c:v>0.93500000000000005</c:v>
                </c:pt>
                <c:pt idx="35">
                  <c:v>0.93500000000000005</c:v>
                </c:pt>
                <c:pt idx="36">
                  <c:v>0.95499999999999996</c:v>
                </c:pt>
                <c:pt idx="37">
                  <c:v>0.95199999999999996</c:v>
                </c:pt>
                <c:pt idx="38">
                  <c:v>0.90900000000000003</c:v>
                </c:pt>
                <c:pt idx="39">
                  <c:v>0.88700000000000001</c:v>
                </c:pt>
                <c:pt idx="40">
                  <c:v>0.874</c:v>
                </c:pt>
                <c:pt idx="41">
                  <c:v>0.92</c:v>
                </c:pt>
                <c:pt idx="42">
                  <c:v>0.92800000000000005</c:v>
                </c:pt>
                <c:pt idx="43">
                  <c:v>0.92400000000000004</c:v>
                </c:pt>
                <c:pt idx="44">
                  <c:v>0.91900000000000004</c:v>
                </c:pt>
                <c:pt idx="45">
                  <c:v>0.88300000000000001</c:v>
                </c:pt>
                <c:pt idx="46">
                  <c:v>0.89800000000000002</c:v>
                </c:pt>
                <c:pt idx="47">
                  <c:v>0.91</c:v>
                </c:pt>
                <c:pt idx="48">
                  <c:v>0.84899999999999998</c:v>
                </c:pt>
                <c:pt idx="49">
                  <c:v>0.82599999999999996</c:v>
                </c:pt>
                <c:pt idx="50">
                  <c:v>0.81699999999999995</c:v>
                </c:pt>
                <c:pt idx="51">
                  <c:v>0.872</c:v>
                </c:pt>
                <c:pt idx="52">
                  <c:v>0.874</c:v>
                </c:pt>
                <c:pt idx="53">
                  <c:v>0.89200000000000002</c:v>
                </c:pt>
                <c:pt idx="54">
                  <c:v>0.88400000000000001</c:v>
                </c:pt>
                <c:pt idx="55">
                  <c:v>0.89600000000000002</c:v>
                </c:pt>
                <c:pt idx="56">
                  <c:v>0.93300000000000005</c:v>
                </c:pt>
                <c:pt idx="57">
                  <c:v>0.93100000000000005</c:v>
                </c:pt>
                <c:pt idx="58">
                  <c:v>0.92800000000000005</c:v>
                </c:pt>
                <c:pt idx="59">
                  <c:v>0.89400000000000002</c:v>
                </c:pt>
                <c:pt idx="60">
                  <c:v>0.89600000000000002</c:v>
                </c:pt>
                <c:pt idx="61">
                  <c:v>0.89700000000000002</c:v>
                </c:pt>
                <c:pt idx="62">
                  <c:v>0.90200000000000002</c:v>
                </c:pt>
                <c:pt idx="63">
                  <c:v>0.89200000000000002</c:v>
                </c:pt>
                <c:pt idx="64">
                  <c:v>0.88200000000000001</c:v>
                </c:pt>
                <c:pt idx="65">
                  <c:v>0.85499999999999998</c:v>
                </c:pt>
                <c:pt idx="66">
                  <c:v>0.83799999999999997</c:v>
                </c:pt>
                <c:pt idx="67">
                  <c:v>0.86599999999999999</c:v>
                </c:pt>
                <c:pt idx="68">
                  <c:v>0.86699999999999999</c:v>
                </c:pt>
                <c:pt idx="69">
                  <c:v>0.88600000000000001</c:v>
                </c:pt>
                <c:pt idx="70">
                  <c:v>0.92200000000000004</c:v>
                </c:pt>
                <c:pt idx="71">
                  <c:v>0.93400000000000005</c:v>
                </c:pt>
                <c:pt idx="72">
                  <c:v>0.872</c:v>
                </c:pt>
                <c:pt idx="73">
                  <c:v>0.88600000000000001</c:v>
                </c:pt>
                <c:pt idx="74">
                  <c:v>0.88400000000000001</c:v>
                </c:pt>
                <c:pt idx="75">
                  <c:v>0.91800000000000004</c:v>
                </c:pt>
                <c:pt idx="76">
                  <c:v>0.94599999999999995</c:v>
                </c:pt>
                <c:pt idx="77">
                  <c:v>0.95199999999999996</c:v>
                </c:pt>
                <c:pt idx="78">
                  <c:v>0.93400000000000005</c:v>
                </c:pt>
                <c:pt idx="79">
                  <c:v>0.94799999999999995</c:v>
                </c:pt>
                <c:pt idx="80">
                  <c:v>0.94499999999999995</c:v>
                </c:pt>
                <c:pt idx="81">
                  <c:v>0.94899999999999995</c:v>
                </c:pt>
                <c:pt idx="82">
                  <c:v>0.95699999999999996</c:v>
                </c:pt>
                <c:pt idx="83">
                  <c:v>0.85</c:v>
                </c:pt>
                <c:pt idx="84">
                  <c:v>0.82899999999999996</c:v>
                </c:pt>
                <c:pt idx="85">
                  <c:v>0.77100000000000002</c:v>
                </c:pt>
                <c:pt idx="86">
                  <c:v>0.78800000000000003</c:v>
                </c:pt>
                <c:pt idx="87">
                  <c:v>0.86399999999999999</c:v>
                </c:pt>
                <c:pt idx="88">
                  <c:v>0.79500000000000004</c:v>
                </c:pt>
                <c:pt idx="89">
                  <c:v>0.77</c:v>
                </c:pt>
                <c:pt idx="90">
                  <c:v>0.68300000000000005</c:v>
                </c:pt>
                <c:pt idx="91">
                  <c:v>0.70199999999999996</c:v>
                </c:pt>
                <c:pt idx="92">
                  <c:v>0.53500000000000003</c:v>
                </c:pt>
                <c:pt idx="93">
                  <c:v>0.497</c:v>
                </c:pt>
                <c:pt idx="94">
                  <c:v>0.44700000000000001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C9-834A-BFCF-34EDA3BBBF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C2 (privileged r)</c:v>
                </c:pt>
              </c:strCache>
            </c:strRef>
          </c:tx>
          <c:spPr>
            <a:ln w="30480">
              <a:solidFill>
                <a:srgbClr val="D9A61C"/>
              </a:solidFill>
            </a:ln>
          </c:spPr>
          <c:marker>
            <c:symbol val="none"/>
          </c:marker>
          <c:cat>
            <c:numRef>
              <c:f>Sheet1!$A$2:$A$96</c:f>
              <c:numCache>
                <c:formatCode>General</c:formatCode>
                <c:ptCount val="95"/>
                <c:pt idx="0">
                  <c:v>6</c:v>
                </c:pt>
                <c:pt idx="1">
                  <c:v>21</c:v>
                </c:pt>
                <c:pt idx="2">
                  <c:v>30</c:v>
                </c:pt>
                <c:pt idx="3">
                  <c:v>40</c:v>
                </c:pt>
                <c:pt idx="4">
                  <c:v>48</c:v>
                </c:pt>
                <c:pt idx="5">
                  <c:v>56</c:v>
                </c:pt>
                <c:pt idx="6">
                  <c:v>62</c:v>
                </c:pt>
                <c:pt idx="7">
                  <c:v>71</c:v>
                </c:pt>
                <c:pt idx="8">
                  <c:v>77</c:v>
                </c:pt>
                <c:pt idx="9">
                  <c:v>83</c:v>
                </c:pt>
                <c:pt idx="10">
                  <c:v>89</c:v>
                </c:pt>
                <c:pt idx="11">
                  <c:v>95</c:v>
                </c:pt>
                <c:pt idx="12">
                  <c:v>101</c:v>
                </c:pt>
                <c:pt idx="13">
                  <c:v>107</c:v>
                </c:pt>
                <c:pt idx="14">
                  <c:v>113</c:v>
                </c:pt>
                <c:pt idx="15">
                  <c:v>119</c:v>
                </c:pt>
                <c:pt idx="16">
                  <c:v>125</c:v>
                </c:pt>
                <c:pt idx="17">
                  <c:v>131</c:v>
                </c:pt>
                <c:pt idx="18">
                  <c:v>137</c:v>
                </c:pt>
                <c:pt idx="19">
                  <c:v>143</c:v>
                </c:pt>
                <c:pt idx="20">
                  <c:v>150</c:v>
                </c:pt>
                <c:pt idx="21">
                  <c:v>156</c:v>
                </c:pt>
                <c:pt idx="22">
                  <c:v>162</c:v>
                </c:pt>
                <c:pt idx="23">
                  <c:v>168</c:v>
                </c:pt>
                <c:pt idx="24">
                  <c:v>174</c:v>
                </c:pt>
                <c:pt idx="25">
                  <c:v>180</c:v>
                </c:pt>
                <c:pt idx="26">
                  <c:v>186</c:v>
                </c:pt>
                <c:pt idx="27">
                  <c:v>192</c:v>
                </c:pt>
                <c:pt idx="28">
                  <c:v>198</c:v>
                </c:pt>
                <c:pt idx="29">
                  <c:v>204</c:v>
                </c:pt>
                <c:pt idx="30">
                  <c:v>210</c:v>
                </c:pt>
                <c:pt idx="31">
                  <c:v>216</c:v>
                </c:pt>
                <c:pt idx="32">
                  <c:v>222</c:v>
                </c:pt>
                <c:pt idx="33">
                  <c:v>228</c:v>
                </c:pt>
                <c:pt idx="34">
                  <c:v>234</c:v>
                </c:pt>
                <c:pt idx="35">
                  <c:v>240</c:v>
                </c:pt>
                <c:pt idx="36">
                  <c:v>246</c:v>
                </c:pt>
                <c:pt idx="37">
                  <c:v>252</c:v>
                </c:pt>
                <c:pt idx="38">
                  <c:v>258</c:v>
                </c:pt>
                <c:pt idx="39">
                  <c:v>264</c:v>
                </c:pt>
                <c:pt idx="40">
                  <c:v>270</c:v>
                </c:pt>
                <c:pt idx="41">
                  <c:v>276</c:v>
                </c:pt>
                <c:pt idx="42">
                  <c:v>282</c:v>
                </c:pt>
                <c:pt idx="43">
                  <c:v>288</c:v>
                </c:pt>
                <c:pt idx="44">
                  <c:v>294</c:v>
                </c:pt>
                <c:pt idx="45">
                  <c:v>300</c:v>
                </c:pt>
                <c:pt idx="46">
                  <c:v>306</c:v>
                </c:pt>
                <c:pt idx="47">
                  <c:v>312</c:v>
                </c:pt>
                <c:pt idx="48">
                  <c:v>318</c:v>
                </c:pt>
                <c:pt idx="49">
                  <c:v>324</c:v>
                </c:pt>
                <c:pt idx="50">
                  <c:v>330</c:v>
                </c:pt>
                <c:pt idx="51">
                  <c:v>336</c:v>
                </c:pt>
                <c:pt idx="52">
                  <c:v>342</c:v>
                </c:pt>
                <c:pt idx="53">
                  <c:v>348</c:v>
                </c:pt>
                <c:pt idx="54">
                  <c:v>354</c:v>
                </c:pt>
                <c:pt idx="55">
                  <c:v>360</c:v>
                </c:pt>
                <c:pt idx="56">
                  <c:v>366</c:v>
                </c:pt>
                <c:pt idx="57">
                  <c:v>372</c:v>
                </c:pt>
                <c:pt idx="58">
                  <c:v>378</c:v>
                </c:pt>
                <c:pt idx="59">
                  <c:v>384</c:v>
                </c:pt>
                <c:pt idx="60">
                  <c:v>390</c:v>
                </c:pt>
                <c:pt idx="61">
                  <c:v>396</c:v>
                </c:pt>
                <c:pt idx="62">
                  <c:v>402</c:v>
                </c:pt>
                <c:pt idx="63">
                  <c:v>408</c:v>
                </c:pt>
                <c:pt idx="64">
                  <c:v>414</c:v>
                </c:pt>
                <c:pt idx="65">
                  <c:v>420</c:v>
                </c:pt>
                <c:pt idx="66">
                  <c:v>426</c:v>
                </c:pt>
                <c:pt idx="67">
                  <c:v>432</c:v>
                </c:pt>
                <c:pt idx="68">
                  <c:v>438</c:v>
                </c:pt>
                <c:pt idx="69">
                  <c:v>444</c:v>
                </c:pt>
                <c:pt idx="70">
                  <c:v>450</c:v>
                </c:pt>
                <c:pt idx="71">
                  <c:v>456</c:v>
                </c:pt>
                <c:pt idx="72">
                  <c:v>462</c:v>
                </c:pt>
                <c:pt idx="73">
                  <c:v>468</c:v>
                </c:pt>
                <c:pt idx="74">
                  <c:v>474</c:v>
                </c:pt>
                <c:pt idx="75">
                  <c:v>480</c:v>
                </c:pt>
                <c:pt idx="76">
                  <c:v>486</c:v>
                </c:pt>
                <c:pt idx="77">
                  <c:v>492</c:v>
                </c:pt>
                <c:pt idx="78">
                  <c:v>498</c:v>
                </c:pt>
                <c:pt idx="79">
                  <c:v>504</c:v>
                </c:pt>
                <c:pt idx="80">
                  <c:v>510</c:v>
                </c:pt>
                <c:pt idx="81">
                  <c:v>516</c:v>
                </c:pt>
                <c:pt idx="82">
                  <c:v>522</c:v>
                </c:pt>
                <c:pt idx="83">
                  <c:v>528</c:v>
                </c:pt>
                <c:pt idx="84">
                  <c:v>534</c:v>
                </c:pt>
                <c:pt idx="85">
                  <c:v>540</c:v>
                </c:pt>
                <c:pt idx="86">
                  <c:v>546</c:v>
                </c:pt>
                <c:pt idx="87">
                  <c:v>552</c:v>
                </c:pt>
                <c:pt idx="88">
                  <c:v>558</c:v>
                </c:pt>
                <c:pt idx="89">
                  <c:v>564</c:v>
                </c:pt>
                <c:pt idx="90">
                  <c:v>570</c:v>
                </c:pt>
                <c:pt idx="91">
                  <c:v>576</c:v>
                </c:pt>
                <c:pt idx="92">
                  <c:v>582</c:v>
                </c:pt>
                <c:pt idx="93">
                  <c:v>588</c:v>
                </c:pt>
                <c:pt idx="94">
                  <c:v>594</c:v>
                </c:pt>
              </c:numCache>
            </c:numRef>
          </c:cat>
          <c:val>
            <c:numRef>
              <c:f>Sheet1!$D$2:$D$96</c:f>
              <c:numCache>
                <c:formatCode>General</c:formatCode>
                <c:ptCount val="9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0.89</c:v>
                </c:pt>
                <c:pt idx="5">
                  <c:v>0.86299999999999999</c:v>
                </c:pt>
                <c:pt idx="6">
                  <c:v>0.92500000000000004</c:v>
                </c:pt>
                <c:pt idx="7">
                  <c:v>0.92600000000000005</c:v>
                </c:pt>
                <c:pt idx="8">
                  <c:v>0.96</c:v>
                </c:pt>
                <c:pt idx="9">
                  <c:v>0.96299999999999997</c:v>
                </c:pt>
                <c:pt idx="10">
                  <c:v>0.95</c:v>
                </c:pt>
                <c:pt idx="11">
                  <c:v>0.95599999999999996</c:v>
                </c:pt>
                <c:pt idx="12">
                  <c:v>0.93799999999999994</c:v>
                </c:pt>
                <c:pt idx="13">
                  <c:v>0.94699999999999995</c:v>
                </c:pt>
                <c:pt idx="14">
                  <c:v>0.93899999999999995</c:v>
                </c:pt>
                <c:pt idx="15">
                  <c:v>0.88900000000000001</c:v>
                </c:pt>
                <c:pt idx="16">
                  <c:v>0.88400000000000001</c:v>
                </c:pt>
                <c:pt idx="17">
                  <c:v>0.877</c:v>
                </c:pt>
                <c:pt idx="18">
                  <c:v>0.92400000000000004</c:v>
                </c:pt>
                <c:pt idx="19">
                  <c:v>0.91</c:v>
                </c:pt>
                <c:pt idx="20">
                  <c:v>0.91900000000000004</c:v>
                </c:pt>
                <c:pt idx="21">
                  <c:v>0.91200000000000003</c:v>
                </c:pt>
                <c:pt idx="22">
                  <c:v>0.92100000000000004</c:v>
                </c:pt>
                <c:pt idx="23">
                  <c:v>0.94799999999999995</c:v>
                </c:pt>
                <c:pt idx="24">
                  <c:v>0.96399999999999997</c:v>
                </c:pt>
                <c:pt idx="25">
                  <c:v>0.96699999999999997</c:v>
                </c:pt>
                <c:pt idx="26">
                  <c:v>0.95899999999999996</c:v>
                </c:pt>
                <c:pt idx="27">
                  <c:v>0.96099999999999997</c:v>
                </c:pt>
                <c:pt idx="28">
                  <c:v>0.95099999999999996</c:v>
                </c:pt>
                <c:pt idx="29">
                  <c:v>0.96</c:v>
                </c:pt>
                <c:pt idx="30">
                  <c:v>0.94399999999999995</c:v>
                </c:pt>
                <c:pt idx="31">
                  <c:v>0.86</c:v>
                </c:pt>
                <c:pt idx="32">
                  <c:v>0.873</c:v>
                </c:pt>
                <c:pt idx="33">
                  <c:v>0.88</c:v>
                </c:pt>
                <c:pt idx="34">
                  <c:v>0.93600000000000005</c:v>
                </c:pt>
                <c:pt idx="35">
                  <c:v>0.93700000000000006</c:v>
                </c:pt>
                <c:pt idx="36">
                  <c:v>0.93100000000000005</c:v>
                </c:pt>
                <c:pt idx="37">
                  <c:v>0.92200000000000004</c:v>
                </c:pt>
                <c:pt idx="38">
                  <c:v>0.92400000000000004</c:v>
                </c:pt>
                <c:pt idx="39">
                  <c:v>0.88700000000000001</c:v>
                </c:pt>
                <c:pt idx="40">
                  <c:v>0.91300000000000003</c:v>
                </c:pt>
                <c:pt idx="41">
                  <c:v>0.90100000000000002</c:v>
                </c:pt>
                <c:pt idx="42">
                  <c:v>0.88400000000000001</c:v>
                </c:pt>
                <c:pt idx="43">
                  <c:v>0.89</c:v>
                </c:pt>
                <c:pt idx="44">
                  <c:v>0.81499999999999995</c:v>
                </c:pt>
                <c:pt idx="45">
                  <c:v>0.83699999999999997</c:v>
                </c:pt>
                <c:pt idx="46">
                  <c:v>0.86199999999999999</c:v>
                </c:pt>
                <c:pt idx="47">
                  <c:v>0.92600000000000005</c:v>
                </c:pt>
                <c:pt idx="48">
                  <c:v>0.92900000000000005</c:v>
                </c:pt>
                <c:pt idx="49">
                  <c:v>0.91</c:v>
                </c:pt>
                <c:pt idx="50">
                  <c:v>0.90300000000000002</c:v>
                </c:pt>
                <c:pt idx="51">
                  <c:v>0.89200000000000002</c:v>
                </c:pt>
                <c:pt idx="52">
                  <c:v>0.89100000000000001</c:v>
                </c:pt>
                <c:pt idx="53">
                  <c:v>0.91100000000000003</c:v>
                </c:pt>
                <c:pt idx="54">
                  <c:v>0.90900000000000003</c:v>
                </c:pt>
                <c:pt idx="55">
                  <c:v>0.90300000000000002</c:v>
                </c:pt>
                <c:pt idx="56">
                  <c:v>0.93400000000000005</c:v>
                </c:pt>
                <c:pt idx="57">
                  <c:v>0.91100000000000003</c:v>
                </c:pt>
                <c:pt idx="58">
                  <c:v>0.88700000000000001</c:v>
                </c:pt>
                <c:pt idx="59">
                  <c:v>0.87</c:v>
                </c:pt>
                <c:pt idx="60">
                  <c:v>0.88800000000000001</c:v>
                </c:pt>
                <c:pt idx="61">
                  <c:v>0.91900000000000004</c:v>
                </c:pt>
                <c:pt idx="62">
                  <c:v>0.95199999999999996</c:v>
                </c:pt>
                <c:pt idx="63">
                  <c:v>0.94799999999999995</c:v>
                </c:pt>
                <c:pt idx="64">
                  <c:v>0.91800000000000004</c:v>
                </c:pt>
                <c:pt idx="65">
                  <c:v>0.875</c:v>
                </c:pt>
                <c:pt idx="66">
                  <c:v>0.88500000000000001</c:v>
                </c:pt>
                <c:pt idx="67">
                  <c:v>0.877</c:v>
                </c:pt>
                <c:pt idx="68">
                  <c:v>0.91300000000000003</c:v>
                </c:pt>
                <c:pt idx="69">
                  <c:v>0.91500000000000004</c:v>
                </c:pt>
                <c:pt idx="70">
                  <c:v>0.92600000000000005</c:v>
                </c:pt>
                <c:pt idx="71">
                  <c:v>0.93700000000000006</c:v>
                </c:pt>
                <c:pt idx="72">
                  <c:v>0.92400000000000004</c:v>
                </c:pt>
                <c:pt idx="73">
                  <c:v>0.88100000000000001</c:v>
                </c:pt>
                <c:pt idx="74">
                  <c:v>0.89200000000000002</c:v>
                </c:pt>
                <c:pt idx="75">
                  <c:v>0.90900000000000003</c:v>
                </c:pt>
                <c:pt idx="76">
                  <c:v>0.95099999999999996</c:v>
                </c:pt>
                <c:pt idx="77">
                  <c:v>0.96</c:v>
                </c:pt>
                <c:pt idx="78">
                  <c:v>0.93100000000000005</c:v>
                </c:pt>
                <c:pt idx="79">
                  <c:v>0.91800000000000004</c:v>
                </c:pt>
                <c:pt idx="80">
                  <c:v>0.88600000000000001</c:v>
                </c:pt>
                <c:pt idx="81">
                  <c:v>0.89100000000000001</c:v>
                </c:pt>
                <c:pt idx="82">
                  <c:v>0.86499999999999999</c:v>
                </c:pt>
                <c:pt idx="83">
                  <c:v>0.89800000000000002</c:v>
                </c:pt>
                <c:pt idx="84">
                  <c:v>0.88600000000000001</c:v>
                </c:pt>
                <c:pt idx="85">
                  <c:v>0.91700000000000004</c:v>
                </c:pt>
                <c:pt idx="86">
                  <c:v>0.92600000000000005</c:v>
                </c:pt>
                <c:pt idx="87">
                  <c:v>0.93</c:v>
                </c:pt>
                <c:pt idx="88">
                  <c:v>0.90400000000000003</c:v>
                </c:pt>
                <c:pt idx="89">
                  <c:v>0.91900000000000004</c:v>
                </c:pt>
                <c:pt idx="90">
                  <c:v>0.92600000000000005</c:v>
                </c:pt>
                <c:pt idx="91">
                  <c:v>0.94399999999999995</c:v>
                </c:pt>
                <c:pt idx="92">
                  <c:v>0.89700000000000002</c:v>
                </c:pt>
                <c:pt idx="93">
                  <c:v>0.86899999999999999</c:v>
                </c:pt>
                <c:pt idx="94">
                  <c:v>0.85299999999999998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C9-834A-BFCF-34EDA3BBBF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C9C9C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k-orr/aesthetic-memory-model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ark-orr.github.io/aesthetic-memory-model/design5-demo-2.html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k-orr/aesthetic-memory-mode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9A61C"/>
                </a:solidFill>
                <a:latin typeface="Cambria"/>
              </a:rPr>
              <a:t>A COMPUTATIONAL MODEL OF AESTHETIC 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Memory, the Inverted-U,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9C9C7"/>
                </a:solidFill>
                <a:latin typeface="Calibri"/>
              </a:rPr>
              <a:t>Instance-based learning as a substrate for aesthetic preference — and for an agent that tries to steer it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4937760"/>
            <a:ext cx="128016" cy="128016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486460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C9C7"/>
                </a:solidFill>
                <a:latin typeface="Calibri"/>
              </a:rPr>
              <a:t>Mark G. Orr  ·  pyactup / Algorithm A4 &amp; Algorithm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9C9C7"/>
                </a:solidFill>
                <a:hlinkClick r:id="rId2"/>
              </a:rPr>
              <a:t>https://github.com/mark-orr/aesthetic-memory-model</a:t>
            </a:r>
            <a:r>
              <a:rPr lang="en-US" sz="1000" dirty="0">
                <a:solidFill>
                  <a:srgbClr val="C9C9C7"/>
                </a:solidFill>
              </a:rPr>
              <a:t> </a:t>
            </a:r>
            <a:endParaRPr sz="1000" b="0" i="0" dirty="0">
              <a:solidFill>
                <a:srgbClr val="C9C9C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Why do we like what we hear?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60350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 dirty="0" err="1">
                <a:solidFill>
                  <a:srgbClr val="2B4E71"/>
                </a:solidFill>
                <a:latin typeface="Cambria"/>
              </a:rPr>
              <a:t>Berlyne's</a:t>
            </a:r>
            <a:r>
              <a:rPr sz="1800" b="1" i="0" dirty="0">
                <a:solidFill>
                  <a:srgbClr val="2B4E71"/>
                </a:solidFill>
                <a:latin typeface="Cambria"/>
              </a:rPr>
              <a:t> inverted-U hypothesis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Aesthetic response is theorized to rise, peak, then fall as a stimulus's complexity (or novelty, or arousal potential) increases — too simple is boring, too complex is overwhelming.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The peak marks a moderate, intermediate level of complexity: the “Wundt curve.”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Widely cited as fading from relevance since the 1980s in favor of newer, more ecologically-grounded theories.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846320" cy="3840480"/>
          </a:xfrm>
          <a:prstGeom prst="roundRect">
            <a:avLst>
              <a:gd name="adj" fmla="val 4000"/>
            </a:avLst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78040" y="196596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3D6E9E"/>
                </a:solidFill>
                <a:latin typeface="Cambria"/>
              </a:rPr>
              <a:t>87.7%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306324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2A2A2A"/>
                </a:solidFill>
                <a:latin typeface="Calibri"/>
              </a:rPr>
              <a:t>of 57 music-preference studies reviewed (1901–2015) produced results compatible with some segment of the inverted-U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16052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747474"/>
                </a:solidFill>
                <a:latin typeface="Calibri"/>
              </a:rPr>
              <a:t>The model has been declared “defunct” less because it fails to replicate, and more because research interest moved elsewhere.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747474"/>
                </a:solidFill>
                <a:latin typeface="Calibri"/>
              </a:rPr>
              <a:t>Chmiel, A., &amp; Schubert, E. (2017). Back to the inverted-U for music preference: A review of the literature. Psychology of Music, 45(6).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The inverted-U isn't universal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9436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B4E71"/>
                </a:solidFill>
                <a:latin typeface="Cambria"/>
              </a:rPr>
              <a:t>Orr &amp; Ohlsson (2001): jazz vs. bluegrass</a:t>
            </a:r>
          </a:p>
          <a:p>
            <a:pPr algn="l">
              <a:spcAft>
                <a:spcPts val="1200"/>
              </a:spcAft>
              <a:buChar char="•"/>
            </a:pPr>
            <a:r>
              <a:rPr sz="1500" b="0" i="0">
                <a:solidFill>
                  <a:srgbClr val="2A2A2A"/>
                </a:solidFill>
                <a:latin typeface="Calibri"/>
              </a:rPr>
              <a:t>Non-musicians rated complexity and liking of short jazz and bluegrass improvisations, created by professional musicians at five controlled complexity levels.</a:t>
            </a:r>
          </a:p>
          <a:p>
            <a:pPr algn="l">
              <a:spcAft>
                <a:spcPts val="1200"/>
              </a:spcAft>
              <a:buChar char="•"/>
            </a:pPr>
            <a:r>
              <a:rPr sz="1500" b="0" i="0">
                <a:solidFill>
                  <a:srgbClr val="2A2A2A"/>
                </a:solidFill>
                <a:latin typeface="Calibri"/>
              </a:rPr>
              <a:t>Bluegrass: strong, clean support for the inverted-U — both the ascending and descending legs of the curve held up.</a:t>
            </a:r>
          </a:p>
          <a:p>
            <a:pPr algn="l">
              <a:spcAft>
                <a:spcPts val="1200"/>
              </a:spcAft>
              <a:buChar char="•"/>
            </a:pPr>
            <a:r>
              <a:rPr sz="1500" b="0" i="0">
                <a:solidFill>
                  <a:srgbClr val="2A2A2A"/>
                </a:solidFill>
                <a:latin typeface="Calibri"/>
              </a:rPr>
              <a:t>Jazz: only the descending leg was supported. A negative-linear relationship (simpler is always better) fit the jazz data just as well.</a:t>
            </a:r>
          </a:p>
          <a:p>
            <a:pPr algn="l">
              <a:spcAft>
                <a:spcPts val="1200"/>
              </a:spcAft>
              <a:buChar char="•"/>
            </a:pPr>
            <a:r>
              <a:rPr sz="1500" b="0" i="0">
                <a:solidFill>
                  <a:srgbClr val="2A2A2A"/>
                </a:solidFill>
                <a:latin typeface="Calibri"/>
              </a:rPr>
              <a:t>Conclusion: the shape of the complexity–liking relationship can depend on musical style, not just on the collative variable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91640"/>
            <a:ext cx="23317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7132320" y="3246120"/>
            <a:ext cx="1874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132320" y="1965960"/>
            <a:ext cx="941832" cy="1280160"/>
          </a:xfrm>
          <a:prstGeom prst="line">
            <a:avLst/>
          </a:prstGeom>
          <a:ln w="38100">
            <a:solidFill>
              <a:srgbClr val="3D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74152" y="1965960"/>
            <a:ext cx="932688" cy="1280160"/>
          </a:xfrm>
          <a:prstGeom prst="line">
            <a:avLst/>
          </a:prstGeom>
          <a:ln w="38100">
            <a:solidFill>
              <a:srgbClr val="3D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95160" y="34290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2A2A2A"/>
                </a:solidFill>
                <a:latin typeface="Calibri"/>
              </a:rPr>
              <a:t>Bluegrass: inverted-U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1691640"/>
            <a:ext cx="23317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9601200" y="1965960"/>
            <a:ext cx="1874520" cy="1417320"/>
          </a:xfrm>
          <a:prstGeom prst="line">
            <a:avLst/>
          </a:prstGeom>
          <a:ln w="38100">
            <a:solidFill>
              <a:srgbClr val="D9A6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64040" y="34290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2A2A2A"/>
                </a:solidFill>
                <a:latin typeface="Calibri"/>
              </a:rPr>
              <a:t>Jazz: negative-linear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77639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1">
                <a:solidFill>
                  <a:srgbClr val="747474"/>
                </a:solidFill>
                <a:latin typeface="Calibri"/>
              </a:rPr>
              <a:t>Any model that claims to explain aesthetic judgment in general needs a way for the shape of the preference curve to depend on context — not just be a fixed formula.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747474"/>
                </a:solidFill>
                <a:latin typeface="Calibri"/>
              </a:rPr>
              <a:t>Orr, M. G., &amp; Ohlsson, S. (2001). The relationship between musical complexity and liking in jazz and bluegrass. Psychology of Music, 29.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Expertise changes the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64008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B4E71"/>
                </a:solidFill>
                <a:latin typeface="Cambria"/>
              </a:rPr>
              <a:t>Orr &amp; Ohlsson (2005): does the inverted-U hold for experts?</a:t>
            </a:r>
          </a:p>
          <a:p>
            <a:pPr algn="l">
              <a:spcAft>
                <a:spcPts val="1100"/>
              </a:spcAft>
              <a:buChar char="•"/>
            </a:pPr>
            <a:r>
              <a:rPr sz="1500" b="0" i="0">
                <a:solidFill>
                  <a:srgbClr val="2A2A2A"/>
                </a:solidFill>
                <a:latin typeface="Calibri"/>
              </a:rPr>
              <a:t>Professional jazz and bluegrass musicians (10+ years training, working professionals) rated the same style of stimuli as the 2001 study.</a:t>
            </a:r>
          </a:p>
          <a:p>
            <a:pPr algn="l">
              <a:spcAft>
                <a:spcPts val="1100"/>
              </a:spcAft>
              <a:buChar char="•"/>
            </a:pPr>
            <a:r>
              <a:rPr sz="1500" b="0" i="0">
                <a:solidFill>
                  <a:srgbClr val="2A2A2A"/>
                </a:solidFill>
                <a:latin typeface="Calibri"/>
              </a:rPr>
              <a:t>Result: no inverted-U for either expert group, on either style. Complexity barely predicted liking at all for the jazz musicians, and only weakly (and linearly) for the bluegrass musicians on their own style.</a:t>
            </a:r>
          </a:p>
          <a:p>
            <a:pPr algn="l">
              <a:spcAft>
                <a:spcPts val="1100"/>
              </a:spcAft>
              <a:buChar char="•"/>
            </a:pPr>
            <a:r>
              <a:rPr sz="1500" b="0" i="0">
                <a:solidFill>
                  <a:srgbClr val="2A2A2A"/>
                </a:solidFill>
                <a:latin typeface="Calibri"/>
              </a:rPr>
              <a:t>Comparing no-training, moderately-trained, and expert listeners: the variance in liking explained by complexity shrank as expertise grew.</a:t>
            </a:r>
          </a:p>
          <a:p>
            <a:pPr algn="l">
              <a:spcAft>
                <a:spcPts val="1100"/>
              </a:spcAft>
              <a:buChar char="•"/>
            </a:pPr>
            <a:r>
              <a:rPr sz="1500" b="0" i="0">
                <a:solidFill>
                  <a:srgbClr val="2A2A2A"/>
                </a:solidFill>
                <a:latin typeface="Calibri"/>
              </a:rPr>
              <a:t>Proposed explanation: experts develop other, learned aesthetic criteria (timbre, phrasing, harmony) that come to matter more than raw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691640"/>
            <a:ext cx="4434840" cy="384048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0116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9A61C"/>
                </a:solidFill>
                <a:latin typeface="Cambria"/>
              </a:rPr>
              <a:t>THE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46888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no training  →  moderate training  → 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2461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9C9C7"/>
                </a:solidFill>
                <a:latin typeface="Calibri"/>
              </a:rPr>
              <a:t>strength of the complexity–liking link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657600"/>
            <a:ext cx="1371600" cy="310896"/>
          </a:xfrm>
          <a:prstGeom prst="rect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98280" y="36393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novice R² ≈ .56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224528"/>
            <a:ext cx="960120" cy="310896"/>
          </a:xfrm>
          <a:prstGeom prst="rect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42062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moderate R² ≈ .33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4791456"/>
            <a:ext cx="548640" cy="310896"/>
          </a:xfrm>
          <a:prstGeom prst="rect">
            <a:avLst/>
          </a:prstGeom>
          <a:solidFill>
            <a:srgbClr val="D9A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47731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expert R² ≈ 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257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C9C9C7"/>
                </a:solidFill>
                <a:latin typeface="Calibri"/>
              </a:rPr>
              <a:t>(jazz-improvisation data, illustrative)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747474"/>
                </a:solidFill>
                <a:latin typeface="Calibri"/>
              </a:rPr>
              <a:t>Orr, M. G., &amp; Ohlsson, S. (2005). Relationship between complexity and liking as a function of expertise. Music Perception, 22(4).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What a model needs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71"/>
                </a:solidFill>
                <a:latin typeface="Cambria"/>
              </a:rPr>
              <a:t>Two open threads from the literature, one shared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53492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4E71"/>
                </a:solidFill>
                <a:latin typeface="Cambria"/>
              </a:rPr>
              <a:t>Context-dependence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A2A2A"/>
                </a:solidFill>
                <a:latin typeface="Calibri"/>
              </a:rPr>
              <a:t>The curve's shape (or whether it appears at all) depends on the musical style being judged.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53492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4E71"/>
                </a:solidFill>
                <a:latin typeface="Cambria"/>
              </a:rPr>
              <a:t>Experience-dependence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6324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A2A2A"/>
                </a:solidFill>
                <a:latin typeface="Calibri"/>
              </a:rPr>
              <a:t>The curve weakens as the listener's accumulated experience with the domain grows.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00600"/>
            <a:ext cx="11155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A2A2A"/>
                </a:solidFill>
                <a:latin typeface="Calibri"/>
              </a:rPr>
              <a:t>Both are, at bottom, statements about accumulated exposure history — which style of song you've heard before, and how much of it. An instance-based learning model, where every exposure leaves a trace in memory, has this kind of history-sensitivity built in from the start, rather than needing to be added on top of a fixed formula.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Memory as the basis for aesthetic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760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  <a:buChar char="•"/>
            </a:pPr>
            <a:r>
              <a:rPr sz="1550" b="0" i="0" dirty="0">
                <a:solidFill>
                  <a:srgbClr val="2A2A2A"/>
                </a:solidFill>
                <a:latin typeface="Calibri"/>
              </a:rPr>
              <a:t>Each exposure to a song is encoded as one memory chunk (instance-based learning, ACT-R / </a:t>
            </a:r>
            <a:r>
              <a:rPr sz="1550" b="0" i="0" dirty="0" err="1">
                <a:solidFill>
                  <a:srgbClr val="2A2A2A"/>
                </a:solidFill>
                <a:latin typeface="Calibri"/>
              </a:rPr>
              <a:t>pyactup</a:t>
            </a:r>
            <a:r>
              <a:rPr sz="1550" b="0" i="0" dirty="0">
                <a:solidFill>
                  <a:srgbClr val="2A2A2A"/>
                </a:solidFill>
                <a:latin typeface="Calibri"/>
              </a:rPr>
              <a:t>).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550" b="0" i="0" dirty="0">
                <a:solidFill>
                  <a:srgbClr val="2A2A2A"/>
                </a:solidFill>
                <a:latin typeface="Calibri"/>
              </a:rPr>
              <a:t>Anderson's rational analysis of memory: a chunk's activation reflects how statistically predictable that item has been in the environment.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550" b="0" i="0" dirty="0">
                <a:solidFill>
                  <a:srgbClr val="2A2A2A"/>
                </a:solidFill>
                <a:latin typeface="Calibri"/>
              </a:rPr>
              <a:t>The model's core move: compare the activation memory predicts for the next song against the activation of the song actually heard.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550" b="0" i="0" dirty="0">
                <a:solidFill>
                  <a:srgbClr val="2A2A2A"/>
                </a:solidFill>
                <a:latin typeface="Calibri"/>
              </a:rPr>
              <a:t>That gap — predicted vs. actual activation — is the raw material for aesthetic judgment: “</a:t>
            </a:r>
            <a:r>
              <a:rPr sz="1550" b="0" i="0" dirty="0" err="1">
                <a:solidFill>
                  <a:srgbClr val="2A2A2A"/>
                </a:solidFill>
                <a:latin typeface="Calibri"/>
              </a:rPr>
              <a:t>aesthetic_basis</a:t>
            </a:r>
            <a:r>
              <a:rPr sz="1550" b="0" i="0" dirty="0">
                <a:solidFill>
                  <a:srgbClr val="2A2A2A"/>
                </a:solidFill>
                <a:latin typeface="Calibri"/>
              </a:rPr>
              <a:t>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91640"/>
            <a:ext cx="5074920" cy="4114800"/>
          </a:xfrm>
          <a:prstGeom prst="roundRect">
            <a:avLst>
              <a:gd name="adj" fmla="val 4000"/>
            </a:avLst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3720" y="19659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B4E71"/>
                </a:solidFill>
                <a:latin typeface="Cambria"/>
              </a:rPr>
              <a:t>ALGORITHM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2316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A2A2A"/>
                </a:solidFill>
                <a:latin typeface="Courier New"/>
              </a:rPr>
              <a:t>1.  retrieve()  →  predicted_activation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990088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A2A2A"/>
                </a:solidFill>
                <a:latin typeface="Courier New"/>
              </a:rPr>
              <a:t>2.  activation lookup for the song heard →  actual_activation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557016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A2A2A"/>
                </a:solidFill>
                <a:latin typeface="Courier New"/>
              </a:rPr>
              <a:t>3.  aesthetic_basis = | predicted − actual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251960"/>
            <a:ext cx="448056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 dirty="0">
                <a:solidFill>
                  <a:srgbClr val="747474"/>
                </a:solidFill>
                <a:latin typeface="Calibri"/>
              </a:rPr>
              <a:t>Chunks currently carry two slots: a song identifier and a value (evaluation itself). </a:t>
            </a:r>
            <a:r>
              <a:rPr sz="1300" b="0" i="1" dirty="0" err="1">
                <a:solidFill>
                  <a:srgbClr val="747474"/>
                </a:solidFill>
                <a:latin typeface="Calibri"/>
              </a:rPr>
              <a:t>Aesthetic_basis</a:t>
            </a:r>
            <a:r>
              <a:rPr sz="1300" b="0" i="1" dirty="0">
                <a:solidFill>
                  <a:srgbClr val="747474"/>
                </a:solidFill>
                <a:latin typeface="Calibri"/>
              </a:rPr>
              <a:t> is only defined once a song has a chunk of its own — i.e. from its second exposure onward.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Algorithm A4: building the inverted-U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852160" cy="2346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3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A4 keeps a running average of </a:t>
            </a:r>
            <a:r>
              <a:rPr sz="1500" b="0" i="0" dirty="0" err="1">
                <a:solidFill>
                  <a:srgbClr val="2A2A2A"/>
                </a:solidFill>
                <a:latin typeface="Calibri"/>
              </a:rPr>
              <a:t>aesthetic_basis</a:t>
            </a:r>
            <a:r>
              <a:rPr sz="1500" b="0" i="0" dirty="0">
                <a:solidFill>
                  <a:srgbClr val="2A2A2A"/>
                </a:solidFill>
                <a:latin typeface="Calibri"/>
              </a:rPr>
              <a:t> over the whole simulation — cumulative, or a moving window — as a live estimate of “how surprising has this environment been lately.”</a:t>
            </a:r>
          </a:p>
          <a:p>
            <a:pPr algn="l">
              <a:spcAft>
                <a:spcPts val="13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That average, scaled by a free parameter </a:t>
            </a:r>
            <a:r>
              <a:rPr sz="1500" b="0" i="0" dirty="0" err="1">
                <a:solidFill>
                  <a:srgbClr val="2A2A2A"/>
                </a:solidFill>
                <a:latin typeface="Calibri"/>
              </a:rPr>
              <a:t>γ</a:t>
            </a:r>
            <a:r>
              <a:rPr sz="1500" b="0" i="0" dirty="0">
                <a:solidFill>
                  <a:srgbClr val="2A2A2A"/>
                </a:solidFill>
                <a:latin typeface="Calibri"/>
              </a:rPr>
              <a:t> (gamma), sets r</a:t>
            </a:r>
            <a:r>
              <a:rPr lang="en-US" sz="1500" dirty="0">
                <a:solidFill>
                  <a:srgbClr val="2A2A2A"/>
                </a:solidFill>
                <a:latin typeface="Calibri"/>
              </a:rPr>
              <a:t>.</a:t>
            </a:r>
            <a:endParaRPr sz="1500" b="0" i="0" dirty="0">
              <a:solidFill>
                <a:srgbClr val="2A2A2A"/>
              </a:solidFill>
              <a:latin typeface="Calibri"/>
            </a:endParaRPr>
          </a:p>
          <a:p>
            <a:pPr algn="l">
              <a:spcAft>
                <a:spcPts val="13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evaluation is a parabola in </a:t>
            </a:r>
            <a:r>
              <a:rPr sz="1500" b="0" i="0" dirty="0" err="1">
                <a:solidFill>
                  <a:srgbClr val="2A2A2A"/>
                </a:solidFill>
                <a:latin typeface="Calibri"/>
              </a:rPr>
              <a:t>aesthetic_basis</a:t>
            </a:r>
            <a:r>
              <a:rPr sz="1500" b="0" i="0" dirty="0">
                <a:solidFill>
                  <a:srgbClr val="2A2A2A"/>
                </a:solidFill>
                <a:latin typeface="Calibri"/>
              </a:rPr>
              <a:t>, anchored at 0, peaking at x = r/2, and returning to 0 at x = r — an inverted-U, literally.</a:t>
            </a:r>
          </a:p>
          <a:p>
            <a:pPr algn="l">
              <a:spcAft>
                <a:spcPts val="13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The song's evaluation is then learned as a new memory chunk, feeding back into future predictions.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91640"/>
            <a:ext cx="5120640" cy="4160520"/>
          </a:xfrm>
          <a:prstGeom prst="roundRect">
            <a:avLst>
              <a:gd name="adj" fmla="val 4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9A61C"/>
                </a:solidFill>
                <a:latin typeface="Cambria"/>
              </a:rPr>
              <a:t>ALGORITHM 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r = γ · time_averaged_aesthetic_basis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80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evaluation = 1 − (2·x/r − 1)²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832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9C9C7"/>
                </a:solidFill>
                <a:latin typeface="Courier New"/>
              </a:rPr>
              <a:t>   where x = aesthetic_basis (this trial)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8862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peak at  x = r/2,  zero at  x = 0  and  x =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70916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C9C9C7"/>
                </a:solidFill>
                <a:latin typeface="Calibri"/>
              </a:rPr>
              <a:t>γ = 1.0 reduces A4 to Algorithm A3 exactly (verified row-for-row under zero noise). γ is left as an explicit tuning knob, not a fixed constant.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DESIGN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A passive listening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4E71"/>
                </a:solidFill>
                <a:latin typeface="Cambria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11155680" cy="2015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  <a:buChar char="•"/>
            </a:pPr>
            <a:r>
              <a:rPr sz="1600" b="0" i="0" dirty="0">
                <a:solidFill>
                  <a:srgbClr val="2A2A2A"/>
                </a:solidFill>
                <a:latin typeface="Calibri"/>
              </a:rPr>
              <a:t>100 songs, each with a fixed complexity drawn once — a stationary, “ergodic” environment.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600" b="0" i="0" dirty="0">
                <a:solidFill>
                  <a:srgbClr val="2A2A2A"/>
                </a:solidFill>
                <a:latin typeface="Calibri"/>
              </a:rPr>
              <a:t>Songs are drawn </a:t>
            </a:r>
            <a:r>
              <a:rPr sz="1600" b="0" i="0" dirty="0" err="1">
                <a:solidFill>
                  <a:srgbClr val="2A2A2A"/>
                </a:solidFill>
                <a:latin typeface="Calibri"/>
              </a:rPr>
              <a:t>i.i.d.</a:t>
            </a:r>
            <a:r>
              <a:rPr sz="1600" b="0" i="0" dirty="0">
                <a:solidFill>
                  <a:srgbClr val="2A2A2A"/>
                </a:solidFill>
                <a:latin typeface="Calibri"/>
              </a:rPr>
              <a:t> with replacement, uniformly at random, over thousands of exposures — no controller, no listener choice.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600" b="0" i="0" dirty="0">
                <a:solidFill>
                  <a:srgbClr val="2A2A2A"/>
                </a:solidFill>
                <a:latin typeface="Calibri"/>
              </a:rPr>
              <a:t>Each repeat exposure runs Algorithm A4: </a:t>
            </a:r>
            <a:r>
              <a:rPr sz="1600" b="0" i="0" dirty="0" err="1">
                <a:solidFill>
                  <a:srgbClr val="2A2A2A"/>
                </a:solidFill>
                <a:latin typeface="Calibri"/>
              </a:rPr>
              <a:t>aesthetic_basis</a:t>
            </a:r>
            <a:r>
              <a:rPr sz="1600" b="0" i="0" dirty="0">
                <a:solidFill>
                  <a:srgbClr val="2A2A2A"/>
                </a:solidFill>
                <a:latin typeface="Calibri"/>
              </a:rPr>
              <a:t> → running average r → evaluation → a new {</a:t>
            </a:r>
            <a:r>
              <a:rPr sz="1600" b="0" i="0" dirty="0" err="1">
                <a:solidFill>
                  <a:srgbClr val="2A2A2A"/>
                </a:solidFill>
                <a:latin typeface="Calibri"/>
              </a:rPr>
              <a:t>song_id</a:t>
            </a:r>
            <a:r>
              <a:rPr sz="1600" b="0" i="0" dirty="0">
                <a:solidFill>
                  <a:srgbClr val="2A2A2A"/>
                </a:solidFill>
                <a:latin typeface="Calibri"/>
              </a:rPr>
              <a:t>, evaluation} chunk is learned.</a:t>
            </a:r>
          </a:p>
          <a:p>
            <a:pPr algn="l">
              <a:spcAft>
                <a:spcPts val="1400"/>
              </a:spcAft>
              <a:buChar char="•"/>
            </a:pPr>
            <a:r>
              <a:rPr sz="1600" b="0" i="0" dirty="0">
                <a:solidFill>
                  <a:srgbClr val="2A2A2A"/>
                </a:solidFill>
                <a:latin typeface="Calibri"/>
              </a:rPr>
              <a:t>Two things are tracked over time: evaluation itself, and A4's own live </a:t>
            </a:r>
            <a:r>
              <a:rPr sz="1600" b="0" i="0" dirty="0" err="1">
                <a:solidFill>
                  <a:srgbClr val="2A2A2A"/>
                </a:solidFill>
                <a:latin typeface="Calibri"/>
              </a:rPr>
              <a:t>time_averaged_aesthetic_basis</a:t>
            </a:r>
            <a:r>
              <a:rPr sz="1600" b="0" i="0" dirty="0">
                <a:solidFill>
                  <a:srgbClr val="2A2A2A"/>
                </a:solidFill>
                <a:latin typeface="Calibri"/>
              </a:rPr>
              <a:t> — does the environment's memory-eye-view of “how surprising” settle down?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DESIGN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Results: a fast rise, then a fluctuating plateau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691640"/>
          <a:ext cx="7040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7373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47474"/>
                </a:solidFill>
                <a:latin typeface="Calibri"/>
              </a:rPr>
              <a:t>30 songs · 600 exposures · noise = 0.25 · γ =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28600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3D6E9E"/>
                </a:solidFill>
                <a:latin typeface="Cambria"/>
              </a:rPr>
              <a:t>0.90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85292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747474"/>
                </a:solidFill>
                <a:latin typeface="Calibri"/>
              </a:rPr>
              <a:t>median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33756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3D6E9E"/>
                </a:solidFill>
                <a:latin typeface="Cambria"/>
              </a:rPr>
              <a:t>1.47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904487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747474"/>
                </a:solidFill>
                <a:latin typeface="Calibri"/>
              </a:rPr>
              <a:t>typical time-averaged basis (last 300)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80560"/>
            <a:ext cx="3931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A2A2A"/>
                </a:solidFill>
                <a:latin typeface="Calibri"/>
              </a:rPr>
              <a:t>The time-averaged basis rises quickly (within roughly the first 80 exposures) from near 0 to about 1.5, then fluctuates around a plateau rather than smoothly settling — window mode tracks recent surprise, not the whole history. Combined with gamma=2's wider forgiving zone, evaluation stays consistently high even under random exposure.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747474"/>
                </a:solidFill>
                <a:latin typeface="Calibri"/>
              </a:rPr>
              <a:t>results/data/design6_baseline_uncontrolled_timeseries.csv — see the Design 6 methods slide for the full matched-parameter list used across Designs 5 and 6 in this deck.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D9A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212121"/>
                </a:solidFill>
                <a:latin typeface="Cambria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A61C"/>
                </a:solidFill>
                <a:latin typeface="Cambria"/>
              </a:rPr>
              <a:t>DESIGN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Try it yourself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965960"/>
            <a:ext cx="7772400" cy="3749039"/>
          </a:xfrm>
          <a:prstGeom prst="roundRect">
            <a:avLst>
              <a:gd name="adj" fmla="val 4000"/>
            </a:avLst>
          </a:prstGeom>
          <a:solidFill>
            <a:srgbClr val="2C2C2C"/>
          </a:solidFill>
          <a:ln w="15875">
            <a:solidFill>
              <a:srgbClr val="3D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0" y="228600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Live animated playback of a real Design 5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063240"/>
            <a:ext cx="7040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C9C9C7"/>
                </a:solidFill>
                <a:latin typeface="Calibri"/>
              </a:rPr>
              <a:t>Watch the left-anchored evaluation parabola reshape trial-by-trial as r drifts, with a marker landing exactly on the curve at each trial's (aesthetic_basis, evaluation) — play / pause / scrub controls, synced against evaluation-over-time.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709160"/>
            <a:ext cx="7040880" cy="507831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 dirty="0">
                <a:solidFill>
                  <a:srgbClr val="D9A61C"/>
                </a:solidFill>
                <a:latin typeface="Courier New"/>
                <a:hlinkClick r:id="rId2"/>
              </a:rPr>
              <a:t>mark-</a:t>
            </a:r>
            <a:r>
              <a:rPr sz="1650" b="1" i="0" dirty="0" err="1">
                <a:solidFill>
                  <a:srgbClr val="D9A61C"/>
                </a:solidFill>
                <a:latin typeface="Courier New"/>
                <a:hlinkClick r:id="rId2"/>
              </a:rPr>
              <a:t>orr.github.io</a:t>
            </a:r>
            <a:r>
              <a:rPr sz="1650" b="1" i="0" dirty="0">
                <a:solidFill>
                  <a:srgbClr val="D9A61C"/>
                </a:solidFill>
                <a:latin typeface="Courier New"/>
                <a:hlinkClick r:id="rId2"/>
              </a:rPr>
              <a:t>/aesthetic-memory-model/design5-demo-2.html</a:t>
            </a:r>
            <a:endParaRPr sz="1650" b="1" i="0" dirty="0">
              <a:solidFill>
                <a:srgbClr val="D9A61C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ALGORITHM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From passive to active: a control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A2A2A"/>
                </a:solidFill>
                <a:latin typeface="Calibri"/>
              </a:rPr>
              <a:t>Design 5's environment picks songs uniformly at random. What if, instead, something tried to pick songs to maximize the memory agent's own evaluation?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5349240" cy="2926080"/>
          </a:xfrm>
          <a:prstGeom prst="roundRect">
            <a:avLst>
              <a:gd name="adj" fmla="val 4000"/>
            </a:avLst>
          </a:prstGeom>
          <a:solidFill>
            <a:srgbClr val="2B4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D9A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21212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99923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Algorithm C1 — evaluation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6177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C9C7"/>
                </a:solidFill>
                <a:latin typeface="Calibri"/>
              </a:rPr>
              <a:t>The controller sees only the evaluation number it gets back after playing a song. No access to the memory agent's internals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51760"/>
            <a:ext cx="5349240" cy="2926080"/>
          </a:xfrm>
          <a:prstGeom prst="roundRect">
            <a:avLst>
              <a:gd name="adj" fmla="val 4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29400" y="2926080"/>
            <a:ext cx="502920" cy="502920"/>
          </a:xfrm>
          <a:prstGeom prst="ellipse">
            <a:avLst/>
          </a:prstGeom>
          <a:solidFill>
            <a:srgbClr val="D9A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212121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99923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Algorithm C2 — privileged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0"/>
            <a:ext cx="46177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C9C7"/>
                </a:solidFill>
                <a:latin typeface="Calibri"/>
              </a:rPr>
              <a:t>Same controller, plus one extra signal: the agent's own live r (where the inverted-U peak currently sits).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747474"/>
                </a:solidFill>
                <a:latin typeface="Calibri"/>
              </a:rPr>
              <a:t>Staged deliberately: the first-order controller establishes a baseline; the second-order controller isolates exactly what “knowing the target” buys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ALGORITHM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Two controllers, one bandit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4E71"/>
                </a:solidFill>
                <a:latin typeface="Cambria"/>
              </a:rPr>
              <a:t>Both controllers are a non-stationary multi-armed bandit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562356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3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Each song is an “arm.” Reward = the evaluation received the last time that song was played.</a:t>
            </a:r>
          </a:p>
          <a:p>
            <a:pPr algn="l">
              <a:spcAft>
                <a:spcPts val="13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Sliding-window UCB, not plain UCB: the reward for a given song genuinely drifts over time as memory and r evolve, so estimates are built from a recent window of plays, not the whole history.</a:t>
            </a:r>
          </a:p>
          <a:p>
            <a:pPr algn="l">
              <a:spcAft>
                <a:spcPts val="1300"/>
              </a:spcAft>
              <a:buChar char="•"/>
            </a:pPr>
            <a:r>
              <a:rPr sz="1500" b="0" i="0" dirty="0">
                <a:solidFill>
                  <a:srgbClr val="2A2A2A"/>
                </a:solidFill>
                <a:latin typeface="Calibri"/>
              </a:rPr>
              <a:t>C1 stops there — pure evaluation-driven exploration/exploitation.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5257800" cy="3794760"/>
          </a:xfrm>
          <a:prstGeom prst="roundRect">
            <a:avLst>
              <a:gd name="adj" fmla="val 4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2377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9A61C"/>
                </a:solidFill>
                <a:latin typeface="Cambria"/>
              </a:rPr>
              <a:t>C2's EXTRA STEP: CHANGE-POINT 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88036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Char char="•"/>
            </a:pPr>
            <a:r>
              <a:rPr sz="1350" b="0" i="0">
                <a:solidFill>
                  <a:srgbClr val="FFFFFF"/>
                </a:solidFill>
                <a:latin typeface="Calibri"/>
              </a:rPr>
              <a:t>C2 also watches r each trial.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593591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Char char="•"/>
            </a:pPr>
            <a:r>
              <a:rPr sz="1350" b="0" i="0">
                <a:solidFill>
                  <a:srgbClr val="C9C9C7"/>
                </a:solidFill>
                <a:latin typeface="Calibri"/>
              </a:rPr>
              <a:t>If r moves by more than a threshold since the last trial, C2 wipes its bandit statistics and re-explores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306824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Char char="•"/>
            </a:pPr>
            <a:r>
              <a:rPr sz="1350" b="0" i="0">
                <a:solidFill>
                  <a:srgbClr val="C9C9C7"/>
                </a:solidFill>
                <a:latin typeface="Calibri"/>
              </a:rPr>
              <a:t>C1 has no such signal — it can only catch up gradually, as stale rewards age out of its own sliding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5020056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Char char="•"/>
            </a:pPr>
            <a:r>
              <a:rPr sz="1350" b="0" i="0">
                <a:solidFill>
                  <a:srgbClr val="C9C9C7"/>
                </a:solidFill>
                <a:latin typeface="Calibri"/>
              </a:rPr>
              <a:t>This gives a concrete, testable prediction: C2 should re-adapt faster after the target moves, especially during the early transient.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DESIGN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The control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4E71"/>
                </a:solidFill>
                <a:latin typeface="Cambria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115568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  <a:buChar char="•"/>
            </a:pPr>
            <a:r>
              <a:rPr sz="1550" b="0" i="0">
                <a:solidFill>
                  <a:srgbClr val="2A2A2A"/>
                </a:solidFill>
                <a:latin typeface="Calibri"/>
              </a:rPr>
              <a:t>Same fixed song pool as Design 5 — the bandit controller replaces the environment's random draw entirely, nothing else about the memory agent changes.</a:t>
            </a:r>
          </a:p>
          <a:p>
            <a:pPr algn="l">
              <a:spcAft>
                <a:spcPts val="1000"/>
              </a:spcAft>
              <a:buChar char="•"/>
            </a:pPr>
            <a:r>
              <a:rPr sz="1550" b="0" i="0">
                <a:solidFill>
                  <a:srgbClr val="2A2A2A"/>
                </a:solidFill>
                <a:latin typeface="Calibri"/>
              </a:rPr>
              <a:t>Design 5 and both controllers are run with every model parameter held identical (below), so the only thing that differs between conditions is how the next song gets chosen.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49039"/>
            <a:ext cx="5486400" cy="2423160"/>
          </a:xfrm>
          <a:prstGeom prst="roundRect">
            <a:avLst>
              <a:gd name="adj" fmla="val 4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9A61C"/>
                </a:solidFill>
                <a:latin typeface="Cambria"/>
              </a:rPr>
              <a:t>MATCHED PARAMETERS — ALL THREE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1596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num_songs = 30            seed =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num_exposures = 600       decay =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10912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gamma = 2.0   time_avg_mode = window (w=20)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58383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noise = 0.25   (see tradeoff note, right)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42432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C9C9C7"/>
                </a:solidFill>
                <a:latin typeface="Calibri"/>
              </a:rPr>
              <a:t>C1 &amp; C2 only: bandit_window=20, bandit_c=2.0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C9C9C7"/>
                </a:solidFill>
                <a:latin typeface="Calibri"/>
              </a:rPr>
              <a:t>C2 only: r_change_threshold=0.15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486400" cy="2651760"/>
          </a:xfrm>
          <a:prstGeom prst="roundRect">
            <a:avLst>
              <a:gd name="adj" fmla="val 4000"/>
            </a:avLst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931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B4E71"/>
                </a:solidFill>
                <a:latin typeface="Cambria"/>
              </a:rPr>
              <a:t>A DELIBERATE TRADEOFF: NOISE = 0.25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A2A2A"/>
                </a:solidFill>
                <a:latin typeface="Calibri"/>
              </a:rPr>
              <a:t>pyactup.Memory has no seed for its own activation noise — our seed only fixes song order, so these three runs aren't perfectly reproducible run-to-run. We use noise=0.25 anyway (the project's real default, config.yaml) because realistic run-to-run variation is part of the story we want to show, not something to engineer away.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8064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 dirty="0">
                <a:solidFill>
                  <a:srgbClr val="747474"/>
                </a:solidFill>
                <a:latin typeface="Calibri"/>
              </a:rPr>
              <a:t>Strict convergence-trial metric (evaluation ≥0.9 sustained) isn't reached by any condition here — median / mean evaluation is the reported comparison instead.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DESIGN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Results: control helps, privileged access helps more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691640"/>
          <a:ext cx="722376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01000" y="1965960"/>
          <a:ext cx="3703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0800" marR="50800" marT="25400" marB="25400" anchor="ctr">
                    <a:solidFill>
                      <a:srgbClr val="2B4E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Median eval.</a:t>
                      </a:r>
                    </a:p>
                  </a:txBody>
                  <a:tcPr marL="50800" marR="50800" marT="25400" marB="25400" anchor="ctr">
                    <a:solidFill>
                      <a:srgbClr val="2B4E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Mean eval.</a:t>
                      </a:r>
                    </a:p>
                  </a:txBody>
                  <a:tcPr marL="50800" marR="50800" marT="25400" marB="25400" anchor="ctr">
                    <a:solidFill>
                      <a:srgbClr val="2B4E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Design 5 (random)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C1 (evaluation-only)</a:t>
                      </a:r>
                    </a:p>
                  </a:txBody>
                  <a:tcPr marL="50800" marR="50800" marT="25400" marB="25400" anchor="ctr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0800" marR="50800" marT="25400" marB="25400" anchor="ctr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0800" marR="50800" marT="25400" marB="25400" anchor="ctr">
                    <a:solidFill>
                      <a:srgbClr val="F0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C2 (privileged r)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A2A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0" y="4023360"/>
            <a:ext cx="37033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A2A2A"/>
                </a:solidFill>
                <a:latin typeface="Calibri"/>
              </a:rPr>
              <a:t>Both controllers beat the uncontrolled baseline on median and mean evaluation, and C2's privileged access widens the gap further still — a clean, monotonic ordering: baseline &lt; C1 &lt; C2. C2 also has the mildest worst-case dip (min evaluation -0.39, vs. -0.96 for C1 and -1.15 for the baseline), consistent with the change-point reset damping out large negative excursions.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747474"/>
                </a:solidFill>
                <a:latin typeface="Calibri"/>
              </a:rPr>
              <a:t>results/data/design6_{c1,c2,baseline_uncontrolled}_timeseries.csv — matched parameters listed on the previous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389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4E71"/>
                </a:solidFill>
                <a:latin typeface="Cambria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49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2A2A"/>
                </a:solidFill>
                <a:latin typeface="Cambria"/>
              </a:rPr>
              <a:t>Testing this model — and its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747474"/>
                </a:solidFill>
                <a:latin typeface="Calibri"/>
              </a:rPr>
              <a:t>This is a highly theoretical model. Concrete next steps to test it against reality: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331720"/>
            <a:ext cx="365760" cy="365760"/>
          </a:xfrm>
          <a:prstGeom prst="ellipse">
            <a:avLst/>
          </a:prstGeom>
          <a:solidFill>
            <a:srgbClr val="D9A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10515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550" b="1" dirty="0">
                <a:solidFill>
                  <a:srgbClr val="2B4E71"/>
                </a:solidFill>
                <a:latin typeface="Cambria"/>
              </a:rPr>
              <a:t>Memory prediction-error complexity over atomic symbols is first-order</a:t>
            </a:r>
            <a:endParaRPr sz="1550" b="1" i="0" dirty="0">
              <a:solidFill>
                <a:srgbClr val="2B4E71"/>
              </a:solidFill>
              <a:latin typeface="Cambr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71576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b="0" i="0" dirty="0">
                <a:solidFill>
                  <a:srgbClr val="2A2A2A"/>
                </a:solidFill>
                <a:latin typeface="Calibri"/>
              </a:rPr>
              <a:t>What about higher-dimensional, realistic stimuli?  What abou</a:t>
            </a:r>
            <a:r>
              <a:rPr lang="en-US" sz="1300" dirty="0">
                <a:solidFill>
                  <a:srgbClr val="2A2A2A"/>
                </a:solidFill>
                <a:latin typeface="Calibri"/>
              </a:rPr>
              <a:t>t other aspects of aesthetic judgment?  Our work is just first-order, simple-as-possible memory approach. </a:t>
            </a:r>
            <a:r>
              <a:rPr lang="en-US" sz="1300" b="0" i="0" dirty="0">
                <a:solidFill>
                  <a:srgbClr val="2A2A2A"/>
                </a:solidFill>
                <a:latin typeface="Calibri"/>
              </a:rPr>
              <a:t> </a:t>
            </a:r>
            <a:endParaRPr sz="1300" b="0" i="0" dirty="0">
              <a:solidFill>
                <a:srgbClr val="2A2A2A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502920" y="3383279"/>
            <a:ext cx="365760" cy="365760"/>
          </a:xfrm>
          <a:prstGeom prst="ellipse">
            <a:avLst/>
          </a:prstGeom>
          <a:solidFill>
            <a:srgbClr val="D9A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355848"/>
            <a:ext cx="10515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550" b="1" i="0" dirty="0">
                <a:solidFill>
                  <a:srgbClr val="2B4E71"/>
                </a:solidFill>
                <a:latin typeface="Cambria"/>
              </a:rPr>
              <a:t>A memory model for recommender systems?  Call Netflix?</a:t>
            </a:r>
            <a:endParaRPr sz="1550" b="1" i="0" dirty="0">
              <a:solidFill>
                <a:srgbClr val="2B4E71"/>
              </a:solidFill>
              <a:latin typeface="Cambri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3767328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2A2A2A"/>
                </a:solidFill>
                <a:latin typeface="Calibri"/>
              </a:rPr>
              <a:t>Are there usable data?   What would be the recommendations for such systems?</a:t>
            </a:r>
            <a:endParaRPr sz="1300" b="0" i="0" dirty="0">
              <a:solidFill>
                <a:srgbClr val="2A2A2A"/>
              </a:solidFill>
              <a:latin typeface="Calibri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E9AD3C-3664-4335-C4DF-0A44816D5C9A}"/>
              </a:ext>
            </a:extLst>
          </p:cNvPr>
          <p:cNvSpPr/>
          <p:nvPr/>
        </p:nvSpPr>
        <p:spPr>
          <a:xfrm>
            <a:off x="502920" y="4233672"/>
            <a:ext cx="365760" cy="365760"/>
          </a:xfrm>
          <a:prstGeom prst="ellipse">
            <a:avLst/>
          </a:prstGeom>
          <a:solidFill>
            <a:srgbClr val="D9A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CEF874-2D00-5722-F931-149691E02DD7}"/>
              </a:ext>
            </a:extLst>
          </p:cNvPr>
          <p:cNvSpPr txBox="1"/>
          <p:nvPr/>
        </p:nvSpPr>
        <p:spPr>
          <a:xfrm>
            <a:off x="1051560" y="4206241"/>
            <a:ext cx="10515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550" b="1" i="0" dirty="0">
                <a:solidFill>
                  <a:srgbClr val="2B4E71"/>
                </a:solidFill>
                <a:latin typeface="Cambria"/>
              </a:rPr>
              <a:t>Could empirically test </a:t>
            </a:r>
            <a:endParaRPr sz="1550" b="1" i="0" dirty="0">
              <a:solidFill>
                <a:srgbClr val="2B4E71"/>
              </a:solidFill>
              <a:latin typeface="Cambri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FA20A4-6ADC-7802-2A59-3F420F518F73}"/>
              </a:ext>
            </a:extLst>
          </p:cNvPr>
          <p:cNvSpPr txBox="1"/>
          <p:nvPr/>
        </p:nvSpPr>
        <p:spPr>
          <a:xfrm>
            <a:off x="1051560" y="4617721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2A2A2A"/>
                </a:solidFill>
                <a:latin typeface="Calibri"/>
              </a:rPr>
              <a:t>Sure, but why?</a:t>
            </a:r>
            <a:endParaRPr sz="1300" b="0" i="0" dirty="0">
              <a:solidFill>
                <a:srgbClr val="2A2A2A"/>
              </a:solidFill>
              <a:latin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82B0B85-23A0-AD5F-1E5B-5311C00FAD6C}"/>
              </a:ext>
            </a:extLst>
          </p:cNvPr>
          <p:cNvSpPr/>
          <p:nvPr/>
        </p:nvSpPr>
        <p:spPr>
          <a:xfrm>
            <a:off x="498663" y="5094027"/>
            <a:ext cx="365760" cy="365760"/>
          </a:xfrm>
          <a:prstGeom prst="ellipse">
            <a:avLst/>
          </a:prstGeom>
          <a:solidFill>
            <a:srgbClr val="D9A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7DB690-3F7C-AA31-751E-77BF8D53C8A9}"/>
              </a:ext>
            </a:extLst>
          </p:cNvPr>
          <p:cNvSpPr txBox="1"/>
          <p:nvPr/>
        </p:nvSpPr>
        <p:spPr>
          <a:xfrm>
            <a:off x="1047303" y="5066596"/>
            <a:ext cx="10515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550" b="1" dirty="0">
                <a:solidFill>
                  <a:srgbClr val="2B4E71"/>
                </a:solidFill>
                <a:latin typeface="Cambria"/>
              </a:rPr>
              <a:t>Implications beyond/outside of domain of aesthetics</a:t>
            </a:r>
            <a:endParaRPr sz="1550" b="1" i="0" dirty="0">
              <a:solidFill>
                <a:srgbClr val="2B4E71"/>
              </a:solidFill>
              <a:latin typeface="Cambr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B0DC82-2DE5-8BC4-7BE4-03D3A1075CCC}"/>
              </a:ext>
            </a:extLst>
          </p:cNvPr>
          <p:cNvSpPr txBox="1"/>
          <p:nvPr/>
        </p:nvSpPr>
        <p:spPr>
          <a:xfrm>
            <a:off x="1047303" y="5478076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2A2A2A"/>
                </a:solidFill>
                <a:latin typeface="Calibri"/>
              </a:rPr>
              <a:t>Just thought I’d ask.  Any ideas?</a:t>
            </a:r>
            <a:endParaRPr sz="1300" b="0" i="0" dirty="0">
              <a:solidFill>
                <a:srgbClr val="2A2A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 dirty="0">
                <a:solidFill>
                  <a:srgbClr val="FFFFFF"/>
                </a:solidFill>
                <a:latin typeface="Cambria"/>
              </a:rPr>
              <a:t>Open 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9C9C7"/>
                </a:solidFill>
                <a:hlinkClick r:id="rId2"/>
              </a:rPr>
              <a:t>https://github.com/mark-orr/aesthetic-memory-model</a:t>
            </a:r>
            <a:endParaRPr lang="en-US" sz="1400" dirty="0">
              <a:solidFill>
                <a:srgbClr val="C9C9C7"/>
              </a:solidFill>
            </a:endParaRPr>
          </a:p>
          <a:p>
            <a:pPr>
              <a:spcAft>
                <a:spcPts val="600"/>
              </a:spcAft>
            </a:pPr>
            <a:endParaRPr sz="1400" b="0" i="0" dirty="0">
              <a:solidFill>
                <a:srgbClr val="C9C9C7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2179</Words>
  <Application>Microsoft Macintosh PowerPoint</Application>
  <PresentationFormat>Widescreen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Orr</cp:lastModifiedBy>
  <cp:revision>4</cp:revision>
  <dcterms:created xsi:type="dcterms:W3CDTF">2013-01-27T09:14:16Z</dcterms:created>
  <dcterms:modified xsi:type="dcterms:W3CDTF">2026-07-20T02:35:29Z</dcterms:modified>
  <cp:category/>
</cp:coreProperties>
</file>